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22" d="100"/>
          <a:sy n="122" d="100"/>
        </p:scale>
        <p:origin x="322" y="91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Stopwords are common words that often don’t carry much meaning (e.g., “the”, “and”, “is”). Removing them can help focus on more meaningful words in the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Relative frequencies can be more informative than raw counts, especially when comparing documents of different lengths.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t>If a word is twice as common in movies as in shows, the ratio is 2.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If a word is twice as common in shows as in movies, the ratio is 0.5.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These numbers are not symmetric: 2 and 0.5 are not equally “far” from 1.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Taking the logarithm (usually base 10 or natural log) of the ratio makes the comparison symmetric around zero: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log(2) ≈ 0.301 (indicating higher frequency in movies)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log(0.5) ≈ -0.301 (indicating higher frequency in shows)</a:t>
            </a:r>
          </a:p>
          <a:p>
            <a:pPr marL="0" lvl="0" indent="0">
              <a:buNone/>
            </a:pPr>
            <a:endParaRPr/>
          </a:p>
          <a:p>
            <a:pPr lvl="0"/>
            <a:r>
              <a:t>Log ratios help to visualize differences in word usage between groups. A log ratio of 0 means equal frequency, positive values indicate higher frequency in one group, and negative values indicate higher frequency in the other group.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marL="0" lvl="0" indent="0">
              <a:buNone/>
            </a:pPr>
            <a:r>
              <a:t>Data Visualization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marL="0" lvl="0" indent="0">
              <a:buNone/>
            </a:pPr>
            <a:r>
              <a:t>Matplotlib, Seaborn, Plotly, Bokeh, and Scikit-learn</a:t>
            </a:r>
            <a:br/>
            <a:br/>
            <a:r>
              <a:t>B. Skopyk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lvl="0" indent="0">
              <a:buNone/>
            </a:pPr>
            <a:r>
              <a:t>2026-02-23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spcBef>
                <a:spcPts val="3000"/>
              </a:spcBef>
              <a:buNone/>
            </a:pPr>
            <a:r>
              <a:rPr b="1"/>
              <a:t>Python Libraries for Data Visualization</a:t>
            </a:r>
          </a:p>
          <a:p>
            <a:pPr lvl="0"/>
            <a:r>
              <a:t>Matplotlib</a:t>
            </a:r>
          </a:p>
          <a:p>
            <a:pPr lvl="0"/>
            <a:r>
              <a:t>Seaborn</a:t>
            </a:r>
          </a:p>
          <a:p>
            <a:pPr lvl="0"/>
            <a:r>
              <a:t>Plotly</a:t>
            </a:r>
          </a:p>
          <a:p>
            <a:pPr lvl="0"/>
            <a:r>
              <a:t>Bokeh</a:t>
            </a:r>
          </a:p>
          <a:p>
            <a:pPr lvl="0"/>
            <a:r>
              <a:t>Scikit-learn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Why Word Counting?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Reveals patterns in language use</a:t>
            </a:r>
          </a:p>
          <a:p>
            <a:pPr lvl="0"/>
            <a:r>
              <a:t>Useful for literary analysis, social media, reviews, large corpora</a:t>
            </a:r>
          </a:p>
          <a:p>
            <a:pPr lvl="0"/>
            <a:r>
              <a:t>Can be visualized to show differences between groups or document sets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DATA PREPARATION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Fetch online data with </a:t>
            </a:r>
            <a:r>
              <a:rPr>
                <a:latin typeface="Courier"/>
              </a:rPr>
              <a:t>requests</a:t>
            </a:r>
            <a:r>
              <a:t> (endpoints) or </a:t>
            </a:r>
            <a:r>
              <a:rPr>
                <a:latin typeface="Courier"/>
              </a:rPr>
              <a:t>BeautifulSoup</a:t>
            </a:r>
            <a:r>
              <a:t> (web scraping)</a:t>
            </a:r>
          </a:p>
          <a:p>
            <a:pPr lvl="0"/>
            <a:r>
              <a:t>Load text data into pandas DataFrames</a:t>
            </a:r>
          </a:p>
          <a:p>
            <a:pPr lvl="0"/>
            <a:r>
              <a:t>Clean and normalize text</a:t>
            </a:r>
          </a:p>
          <a:p>
            <a:pPr lvl="0"/>
            <a:r>
              <a:t>Remove stopwords and unwanted tokens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nltk for Tokenization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Break text into individual words (tokens)</a:t>
            </a:r>
          </a:p>
          <a:p>
            <a:pPr lvl="0"/>
            <a:r>
              <a:t>Use nltk’s </a:t>
            </a:r>
            <a:r>
              <a:rPr>
                <a:latin typeface="Courier"/>
              </a:rPr>
              <a:t>word_tokenize()</a:t>
            </a:r>
          </a:p>
          <a:p>
            <a:pPr lvl="0"/>
            <a:r>
              <a:t>Handle punctuation and contractions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pandas for Data Manipulation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DataFrames for organizing text and word counts</a:t>
            </a:r>
          </a:p>
          <a:p>
            <a:pPr lvl="0"/>
            <a:r>
              <a:t>Grouping, filtering, and pivoting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Stopwords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What are stopwords?</a:t>
            </a:r>
          </a:p>
          <a:p>
            <a:pPr lvl="0"/>
            <a:r>
              <a:t>Why remove them?</a:t>
            </a:r>
          </a:p>
          <a:p>
            <a:pPr lvl="0"/>
            <a:r>
              <a:t>Using wordcloud’s STOPWORDS set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Text Normalization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Lowercasing, removing punctuation</a:t>
            </a:r>
          </a:p>
          <a:p>
            <a:pPr lvl="0"/>
            <a:r>
              <a:t>Handling contractions and special characters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Top Ten Words as Table Graphic</a:t>
            </a:r>
          </a:p>
        </p:txBody>
      </p:sp>
      <p:pic>
        <p:nvPicPr>
          <p:cNvPr id="3" name="Picture 1" descr="./assets/top10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451100" y="1193800"/>
            <a:ext cx="42545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Top 10 Words Table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DATA ANALYSIS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Frequency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Counting word occurrences</a:t>
            </a:r>
          </a:p>
          <a:p>
            <a:pPr lvl="0"/>
            <a:r>
              <a:t>Calculating relative frequencies with </a:t>
            </a:r>
            <a:r>
              <a:rPr>
                <a:latin typeface="Courier"/>
              </a:rPr>
              <a:t>value_counts(normalize=True)</a:t>
            </a:r>
          </a:p>
          <a:p>
            <a:pPr marL="0" lvl="0" indent="0">
              <a:buNone/>
            </a:pPr>
            <a:r>
              <a:rPr i="1">
                <a:latin typeface="Courier"/>
              </a:rPr>
              <a:t>value_counts</a:t>
            </a:r>
            <a:r>
              <a:rPr i="1"/>
              <a:t> is a method in pandas that counts the occurrences of each unique value in a Series. Setting normalize=True returns the relative frequencies instead of raw counts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Comparing Groups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/>
            <a:r>
              <a:t>Analyzing differences between categories (e.g., genres, ratings)</a:t>
            </a:r>
          </a:p>
          <a:p>
            <a:pPr lvl="0"/>
            <a:r>
              <a:t>Pivot tables for side-by-side comparison</a:t>
            </a:r>
          </a:p>
          <a:p>
            <a:pPr lvl="0"/>
            <a:r>
              <a:t>A pivot table groups data by a specified index and then aggregates values from columns</a:t>
            </a:r>
          </a:p>
        </p:txBody>
      </p:sp>
      <p:pic>
        <p:nvPicPr>
          <p:cNvPr id="4" name="Picture 1" descr="./assets/reshaping_pivo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536700"/>
            <a:ext cx="4038600" cy="2209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Pivot Table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Log Ratio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/>
            <a:r>
              <a:t>Why use log ratios?</a:t>
            </a:r>
          </a:p>
          <a:p>
            <a:pPr lvl="0"/>
            <a:r>
              <a:t>Symmetric visualization of frequency differences</a:t>
            </a:r>
          </a:p>
          <a:p>
            <a:pPr lvl="0"/>
            <a:r>
              <a:t>Formula: </a:t>
            </a:r>
            <a14:m xmlns:a14="http://schemas.microsoft.com/office/drawing/2010/main">
              <m:oMath xmlns:m="http://schemas.openxmlformats.org/officeDocument/2006/math">
                <m:r>
                  <m:rPr>
                    <m:sty m:val="p"/>
                  </m:rPr>
                  <a:rPr>
                    <a:latin typeface="Cambria Math" panose="02040503050406030204" pitchFamily="18" charset="0"/>
                  </a:rPr>
                  <m:t>log</m:t>
                </m:r>
                <m:d>
                  <m:dPr>
                    <m:ctrlPr>
                      <a:rPr i="1">
                        <a:latin typeface="Cambria Math" panose="02040503050406030204" pitchFamily="18" charset="0"/>
                      </a:rPr>
                    </m:ctrlPr>
                  </m:dPr>
                  <m:e>
                    <m:r>
                      <m:rPr>
                        <m:nor/>
                      </m:rPr>
                      <a:rPr/>
                      <m:t>ratio</m:t>
                    </m:r>
                  </m:e>
                </m:d>
              </m:oMath>
            </a14:m>
            <a:endParaRPr/>
          </a:p>
        </p:txBody>
      </p:sp>
      <p:pic>
        <p:nvPicPr>
          <p:cNvPr id="4" name="Picture 1" descr="./assets/log-ratios.png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876800" y="1193800"/>
            <a:ext cx="3581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Log Ratio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t>DATA VISUALIZATION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Visualization with Matplotlib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/>
            <a:r>
              <a:t>Creating bar plots for word frequencies</a:t>
            </a:r>
          </a:p>
          <a:p>
            <a:pPr lvl="0"/>
            <a:r>
              <a:t>Customizing axes, labels, and colors</a:t>
            </a:r>
          </a:p>
        </p:txBody>
      </p:sp>
      <p:pic>
        <p:nvPicPr>
          <p:cNvPr id="4" name="Picture 1" descr="./assets/top10-mat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498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Matplotlib barplot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Seaborn for Enhanced Plots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/>
            <a:r>
              <a:t>High-level interface for statistical graphics</a:t>
            </a:r>
          </a:p>
          <a:p>
            <a:pPr lvl="0"/>
            <a:r>
              <a:t>Example: barplot for top words</a:t>
            </a:r>
          </a:p>
        </p:txBody>
      </p:sp>
      <p:pic>
        <p:nvPicPr>
          <p:cNvPr id="4" name="Picture 1" descr="./assets/top10-sns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498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barplot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Word Clouds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/>
            <a:r>
              <a:t>Visualizing most frequent words</a:t>
            </a:r>
          </a:p>
          <a:p>
            <a:pPr lvl="0"/>
            <a:r>
              <a:t>Customizing shape, color, and layout</a:t>
            </a:r>
          </a:p>
          <a:p>
            <a:pPr lvl="0"/>
            <a:r>
              <a:t>Not commonly used in academic research but can be a fun way to explore data</a:t>
            </a:r>
          </a:p>
        </p:txBody>
      </p:sp>
      <p:pic>
        <p:nvPicPr>
          <p:cNvPr id="4" name="Picture 1" descr="./assets/wordcloud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498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wordcloud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Exporting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Saving DataFrames as CSV</a:t>
            </a:r>
          </a:p>
          <a:p>
            <a:pPr lvl="0"/>
            <a:r>
              <a:t>Saving plots as PNG</a:t>
            </a:r>
          </a:p>
          <a:p>
            <a:pPr marL="0" lvl="0" indent="0">
              <a:buNone/>
            </a:pPr>
            <a:r>
              <a:t>NB: </a:t>
            </a:r>
            <a:r>
              <a:rPr i="1"/>
              <a:t>Call </a:t>
            </a:r>
            <a:r>
              <a:rPr i="1">
                <a:latin typeface="Courier"/>
              </a:rPr>
              <a:t>savefig()</a:t>
            </a:r>
            <a:r>
              <a:rPr i="1"/>
              <a:t> before </a:t>
            </a:r>
            <a:r>
              <a:rPr i="1">
                <a:latin typeface="Courier"/>
              </a:rPr>
              <a:t>plt.show()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Beyond Single Texts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Analyzing multiple documents</a:t>
            </a:r>
          </a:p>
          <a:p>
            <a:pPr lvl="0"/>
            <a:r>
              <a:t>Comparing authors, genres, or time periods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Advanced Grouping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Grouping by binary or categorical features</a:t>
            </a:r>
          </a:p>
          <a:p>
            <a:pPr lvl="0"/>
            <a:r>
              <a:t>Examples: rating, year, sentiment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Exercises and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Try new datasets: hotel reviews, spam vs ham, poetry</a:t>
            </a:r>
          </a:p>
          <a:p>
            <a:pPr lvl="0"/>
            <a:r>
              <a:t>Explore different groupings and visualizations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Key Libraries Recap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pandas: data manipulation</a:t>
            </a:r>
          </a:p>
          <a:p>
            <a:pPr lvl="0"/>
            <a:r>
              <a:t>matplotlib: plotting</a:t>
            </a:r>
          </a:p>
          <a:p>
            <a:pPr lvl="0"/>
            <a:r>
              <a:t>seaborn: statistical graphics</a:t>
            </a:r>
          </a:p>
          <a:p>
            <a:pPr lvl="0"/>
            <a:r>
              <a:t>wordcloud: word visualization</a:t>
            </a:r>
          </a:p>
          <a:p>
            <a:pPr lvl="0"/>
            <a:r>
              <a:t>nltk: text processing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Resources and Further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pandas documentation</a:t>
            </a:r>
          </a:p>
          <a:p>
            <a:pPr lvl="0"/>
            <a:r>
              <a:t>matplotlib and seaborn tutorials</a:t>
            </a:r>
          </a:p>
          <a:p>
            <a:pPr lvl="0"/>
            <a:r>
              <a:t>nltk book</a:t>
            </a:r>
          </a:p>
          <a:p>
            <a:pPr lvl="0"/>
            <a:r>
              <a:t>wordcloud package docs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Word counting and visualization are powerful tools</a:t>
            </a:r>
          </a:p>
          <a:p>
            <a:pPr lvl="0"/>
            <a:r>
              <a:t>Python ecosystem offers flexible, robust solutions</a:t>
            </a:r>
          </a:p>
          <a:p>
            <a:pPr lvl="0"/>
            <a:r>
              <a:t>Experiment with your own texts and datasets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Interactive Visualizations with Plotly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/>
            <a:r>
              <a:t>Plotly enables interactive, web-based visualizations</a:t>
            </a:r>
          </a:p>
          <a:p>
            <a:pPr lvl="0"/>
            <a:r>
              <a:t>Features: hover, zoom, pan, filter, export</a:t>
            </a:r>
          </a:p>
          <a:p>
            <a:pPr lvl="0"/>
            <a:r>
              <a:t>Useful for exploring data dynamically and sharing results online</a:t>
            </a:r>
          </a:p>
        </p:txBody>
      </p:sp>
      <p:pic>
        <p:nvPicPr>
          <p:cNvPr id="4" name="Picture 1" descr="./assets/en-or-interactive-visualization-with-plotly-03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8200" y="1651000"/>
            <a:ext cx="4038600" cy="1968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rPr dirty="0"/>
              <a:t>https://programminghistorian.org/assets/interactive-visualization-with-plotly/interactive-visualization-with-plotly-03.html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Plotly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Use </a:t>
            </a:r>
            <a:r>
              <a:rPr>
                <a:latin typeface="Courier"/>
              </a:rPr>
              <a:t>plotly.express</a:t>
            </a:r>
            <a:r>
              <a:t> for quick, high-level plots</a:t>
            </a:r>
          </a:p>
          <a:p>
            <a:pPr lvl="0"/>
            <a:r>
              <a:t>Use </a:t>
            </a:r>
            <a:r>
              <a:rPr>
                <a:latin typeface="Courier"/>
              </a:rPr>
              <a:t>plotly.graph_objects</a:t>
            </a:r>
            <a:r>
              <a:t> for more customization</a:t>
            </a:r>
          </a:p>
          <a:p>
            <a:pPr lvl="0"/>
            <a:r>
              <a:t>Plots can be exported as HTML or static images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Introduction to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Clustering: grouping data points based on similarity</a:t>
            </a:r>
          </a:p>
          <a:p>
            <a:pPr lvl="0"/>
            <a:r>
              <a:t>Unsupervised learning: no labels, algorithm finds structure</a:t>
            </a:r>
          </a:p>
          <a:p>
            <a:pPr lvl="0"/>
            <a:r>
              <a:t>Common in text analysis, digital history, and exploratory data analysis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K-Means Clustering with Scikit-Learn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0"/>
            <a:r>
              <a:t>K-means: partitions data into k clusters by minimizing within-cluster variance</a:t>
            </a:r>
          </a:p>
          <a:p>
            <a:pPr lvl="0"/>
            <a:r>
              <a:t>Steps: choose k, assign points to nearest centroid, update centroids, repeat</a:t>
            </a:r>
          </a:p>
          <a:p>
            <a:pPr lvl="0"/>
            <a:r>
              <a:t>Visualize clusters in 2D/3D to interpret groupings</a:t>
            </a:r>
          </a:p>
        </p:txBody>
      </p:sp>
      <p:pic>
        <p:nvPicPr>
          <p:cNvPr id="4" name="Picture 1" descr="https://scikit-learn.org/stable/_images/sphx_glr_plot_kmeans_digits_00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498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TextBox 3"/>
          <p:cNvSpPr txBox="1"/>
          <p:nvPr/>
        </p:nvSpPr>
        <p:spPr>
          <a:xfrm>
            <a:off x="4648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marL="0" lvl="0" indent="0" algn="ctr">
              <a:buNone/>
            </a:pPr>
            <a:r>
              <a:t>K-Means Clustering Example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Interpreting Clusters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Clusters reveal patterns or subgroups in data</a:t>
            </a:r>
          </a:p>
          <a:p>
            <a:pPr lvl="0"/>
            <a:r>
              <a:t>Useful for discovering themes, genres, or communities</a:t>
            </a:r>
          </a:p>
          <a:p>
            <a:pPr lvl="0"/>
            <a:r>
              <a:t>Limitations: sensitive to k, may not capture complex structures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843</Words>
  <Application>Microsoft Office PowerPoint</Application>
  <PresentationFormat>On-screen Show (16:9)</PresentationFormat>
  <Paragraphs>132</Paragraphs>
  <Slides>30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Cambria Math</vt:lpstr>
      <vt:lpstr>Courier</vt:lpstr>
      <vt:lpstr>Office Theme</vt:lpstr>
      <vt:lpstr>Data Visualization</vt:lpstr>
      <vt:lpstr>PowerPoint Presentation</vt:lpstr>
      <vt:lpstr>Why Word Counting?</vt:lpstr>
      <vt:lpstr>PowerPoint Presentation</vt:lpstr>
      <vt:lpstr>Data Preparation</vt:lpstr>
      <vt:lpstr>nltk for Tokenization</vt:lpstr>
      <vt:lpstr>pandas for Data Manipulation</vt:lpstr>
      <vt:lpstr>Stopwords</vt:lpstr>
      <vt:lpstr>Text Normalization</vt:lpstr>
      <vt:lpstr>Top Ten Words as Table Graphic</vt:lpstr>
      <vt:lpstr>PowerPoint Presentation</vt:lpstr>
      <vt:lpstr>Frequency Analysis</vt:lpstr>
      <vt:lpstr>Comparing Groups</vt:lpstr>
      <vt:lpstr>Log Ratio Concept</vt:lpstr>
      <vt:lpstr>PowerPoint Presentation</vt:lpstr>
      <vt:lpstr>Visualization with Matplotlib</vt:lpstr>
      <vt:lpstr>Seaborn for Enhanced Plots</vt:lpstr>
      <vt:lpstr>Word Clouds</vt:lpstr>
      <vt:lpstr>Exporting Results</vt:lpstr>
      <vt:lpstr>Beyond Single Texts</vt:lpstr>
      <vt:lpstr>Advanced Grouping</vt:lpstr>
      <vt:lpstr>Exercises and Challenges</vt:lpstr>
      <vt:lpstr>Key Libraries Recap</vt:lpstr>
      <vt:lpstr>Resources and Further Reading</vt:lpstr>
      <vt:lpstr>Summary</vt:lpstr>
      <vt:lpstr>Interactive Visualizations with Plotly</vt:lpstr>
      <vt:lpstr>Plotly in Python</vt:lpstr>
      <vt:lpstr>Introduction to Clustering</vt:lpstr>
      <vt:lpstr>K-Means Clustering with Scikit-Learn</vt:lpstr>
      <vt:lpstr>Interpreting Clusters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Visualization</dc:title>
  <dc:creator>B. Skopyk</dc:creator>
  <cp:keywords/>
  <cp:lastModifiedBy>Bradley Skopyk</cp:lastModifiedBy>
  <cp:revision>1</cp:revision>
  <dcterms:created xsi:type="dcterms:W3CDTF">2026-02-26T20:56:42Z</dcterms:created>
  <dcterms:modified xsi:type="dcterms:W3CDTF">2026-02-26T20:57:25Z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2026-02-23</vt:lpwstr>
  </property>
  <property fmtid="{D5CDD505-2E9C-101B-9397-08002B2CF9AE}" pid="3" name="subtitle">
    <vt:lpwstr>Matplotlib, Seaborn, Plotly, Bokeh, and Scikit-learn</vt:lpwstr>
  </property>
</Properties>
</file>