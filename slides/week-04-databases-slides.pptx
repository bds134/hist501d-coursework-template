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41" d="100"/>
          <a:sy n="141" d="100"/>
        </p:scale>
        <p:origin x="744" y="12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t>Databases for Historians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marL="0" lvl="0" indent="0">
              <a:buNone/>
            </a:pPr>
            <a:r>
              <a:t>flat, hierarchical, relational</a:t>
            </a:r>
            <a:br/>
            <a:br/>
            <a:r>
              <a:t>B. Skopyk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t>2026-02-10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What is a “database”?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A structured collection of data that is stored and accessed electronically.</a:t>
            </a:r>
          </a:p>
          <a:p>
            <a:pPr lvl="0"/>
            <a:r>
              <a:t>Allows for efficient storage, retrieval, and management of data.</a:t>
            </a:r>
          </a:p>
          <a:p>
            <a:pPr lvl="0"/>
            <a:r>
              <a:t>Can be simple (a spreadsheet) or complex (a relational database).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Flat database</a:t>
            </a:r>
          </a:p>
        </p:txBody>
      </p:sp>
      <p:pic>
        <p:nvPicPr>
          <p:cNvPr id="3" name="Picture 1" descr="./assets/csv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38400" y="1193800"/>
            <a:ext cx="4267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Stores data in a single table (e.g., CSV files, spreadsheets)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Hierarchical database</a:t>
            </a:r>
          </a:p>
        </p:txBody>
      </p:sp>
      <p:pic>
        <p:nvPicPr>
          <p:cNvPr id="3" name="Picture 1" descr="./assets/json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467100" y="1193800"/>
            <a:ext cx="2222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Organizes data in a tree-like structure (e.g., XML, JSON)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GraphQL database</a:t>
            </a:r>
          </a:p>
        </p:txBody>
      </p:sp>
      <p:pic>
        <p:nvPicPr>
          <p:cNvPr id="3" name="Picture 1" descr="./assets/graph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06600" y="1193800"/>
            <a:ext cx="5130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Uses nodes and edges to represent data (e.g., social networks)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Relational Database Management System (RDBMS)</a:t>
            </a:r>
          </a:p>
        </p:txBody>
      </p:sp>
      <p:pic>
        <p:nvPicPr>
          <p:cNvPr id="3" name="Picture 1" descr="./assets/rdbms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498600" y="1193800"/>
            <a:ext cx="6146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RDBMS: A software system that manages relational databases. It provides tools for creating, querying, and managing databases using SQL (Structured Query Language)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Artists &lt;-&gt; Works &lt;-&gt; Owners</a:t>
            </a:r>
          </a:p>
        </p:txBody>
      </p:sp>
      <p:pic>
        <p:nvPicPr>
          <p:cNvPr id="3" name="Picture 1" descr="./assets/artists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397000"/>
            <a:ext cx="8229600" cy="246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Drucker’s Example of Artists, Works, Owners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Primary and Foreign Keys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Primary Key</a:t>
            </a:r>
            <a:r>
              <a:t>: A unique identifier for each record in a table. It ensures that each record can be uniquely identified and accessed.</a:t>
            </a:r>
          </a:p>
          <a:p>
            <a:pPr lvl="0"/>
            <a:r>
              <a:rPr b="1"/>
              <a:t>Foreign Key</a:t>
            </a:r>
            <a:r>
              <a:t>: A field in one table that refers to the primary key in another table. It establishes a relationship between the two tables and allows for data to be linked across tables.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SQL (Structured Query Language)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A programming language used to manage and manipulate relational databases.</a:t>
            </a:r>
          </a:p>
          <a:p>
            <a:pPr lvl="0"/>
            <a:r>
              <a:t>Allows users to create, read, update, and delete data in a database [CRUD operations]</a:t>
            </a:r>
          </a:p>
          <a:p>
            <a:pPr lvl="0"/>
            <a:r>
              <a:t>Example: </a:t>
            </a:r>
            <a:r>
              <a:rPr>
                <a:latin typeface="Courier"/>
              </a:rPr>
              <a:t>SELECT * FROM artists WHERE name = 'Leonardo da Vinci';</a:t>
            </a:r>
          </a:p>
          <a:p>
            <a:pPr lvl="0"/>
            <a:r>
              <a:t>This query retrieves all records from the “artists” table where the name is “Leonardo da Vinci”.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Parts of a SQL Query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buAutoNum type="arabicPeriod"/>
            </a:pPr>
            <a:r>
              <a:rPr b="1"/>
              <a:t>SELECT</a:t>
            </a:r>
            <a:r>
              <a:t>: Specifies the columns to retrieve</a:t>
            </a:r>
          </a:p>
          <a:p>
            <a:pPr marL="342900" lvl="0" indent="-342900">
              <a:buAutoNum type="arabicPeriod"/>
            </a:pPr>
            <a:r>
              <a:rPr b="1"/>
              <a:t>FROM</a:t>
            </a:r>
            <a:r>
              <a:t>: Specifies the table to query</a:t>
            </a:r>
          </a:p>
          <a:p>
            <a:pPr marL="342900" lvl="0" indent="-342900">
              <a:buAutoNum type="arabicPeriod"/>
            </a:pPr>
            <a:r>
              <a:rPr b="1"/>
              <a:t>WHERE</a:t>
            </a:r>
            <a:r>
              <a:t>: Specifies the conditions for filtering records</a:t>
            </a:r>
          </a:p>
          <a:p>
            <a:pPr marL="342900" lvl="0" indent="-342900">
              <a:buAutoNum type="arabicPeriod"/>
            </a:pPr>
            <a:r>
              <a:rPr b="1"/>
              <a:t>JOIN</a:t>
            </a:r>
            <a:r>
              <a:t>: Combines rows from two or more tables based on a related column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Some Important SQL Commands 1 of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SELECT</a:t>
            </a:r>
            <a:r>
              <a:t>: Query data</a:t>
            </a:r>
          </a:p>
          <a:p>
            <a:pPr lvl="1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column1, column2 </a:t>
            </a:r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table_name </a:t>
            </a:r>
            <a:r>
              <a:rPr b="1">
                <a:solidFill>
                  <a:srgbClr val="007020"/>
                </a:solidFill>
                <a:latin typeface="Courier"/>
              </a:rPr>
              <a:t>WHERE</a:t>
            </a:r>
            <a:r>
              <a:rPr>
                <a:latin typeface="Courier"/>
              </a:rPr>
              <a:t> condition;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Some Important SQL Commands 2 of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CREATE TABLE</a:t>
            </a:r>
            <a:r>
              <a:t>: Create a new table</a:t>
            </a:r>
          </a:p>
          <a:p>
            <a:pPr lvl="1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CREATE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TABLE</a:t>
            </a:r>
            <a:r>
              <a:rPr>
                <a:latin typeface="Courier"/>
              </a:rPr>
              <a:t> table_name (</a:t>
            </a:r>
            <a:br/>
            <a:r>
              <a:rPr>
                <a:latin typeface="Courier"/>
              </a:rPr>
              <a:t>        column1 datatype,</a:t>
            </a:r>
            <a:br/>
            <a:r>
              <a:rPr>
                <a:latin typeface="Courier"/>
              </a:rPr>
              <a:t>        column2 datatype,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666666"/>
                </a:solidFill>
                <a:latin typeface="Courier"/>
              </a:rPr>
              <a:t>..</a:t>
            </a:r>
            <a:r>
              <a:rPr>
                <a:latin typeface="Courier"/>
              </a:rPr>
              <a:t>.</a:t>
            </a:r>
            <a:br/>
            <a:r>
              <a:rPr>
                <a:latin typeface="Courier"/>
              </a:rPr>
              <a:t>);</a:t>
            </a:r>
          </a:p>
          <a:p>
            <a:pPr lvl="0"/>
            <a:r>
              <a:rPr b="1"/>
              <a:t>INSERT INTO</a:t>
            </a:r>
            <a:r>
              <a:t>: Add new data</a:t>
            </a:r>
          </a:p>
          <a:p>
            <a:pPr lvl="1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INSERT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INTO</a:t>
            </a:r>
            <a:r>
              <a:rPr>
                <a:latin typeface="Courier"/>
              </a:rPr>
              <a:t> table_name (column1, column2) </a:t>
            </a:r>
            <a:r>
              <a:rPr b="1">
                <a:solidFill>
                  <a:srgbClr val="007020"/>
                </a:solidFill>
                <a:latin typeface="Courier"/>
              </a:rPr>
              <a:t>VALUES</a:t>
            </a:r>
            <a:r>
              <a:rPr>
                <a:latin typeface="Courier"/>
              </a:rPr>
              <a:t> (</a:t>
            </a:r>
            <a:r>
              <a:rPr>
                <a:solidFill>
                  <a:srgbClr val="4070A0"/>
                </a:solidFill>
                <a:latin typeface="Courier"/>
              </a:rPr>
              <a:t>'value1'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'value2'</a:t>
            </a:r>
            <a:r>
              <a:rPr>
                <a:latin typeface="Courier"/>
              </a:rPr>
              <a:t>);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Some Important SQL Commands 3 of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UPDATE</a:t>
            </a:r>
            <a:r>
              <a:t>: Modify data</a:t>
            </a:r>
          </a:p>
          <a:p>
            <a:pPr lvl="1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UPDATE</a:t>
            </a:r>
            <a:r>
              <a:rPr>
                <a:latin typeface="Courier"/>
              </a:rPr>
              <a:t> table_name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latin typeface="Courier"/>
              </a:rPr>
              <a:t> column1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'new_value'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WHERE</a:t>
            </a:r>
            <a:r>
              <a:rPr>
                <a:latin typeface="Courier"/>
              </a:rPr>
              <a:t> condition;</a:t>
            </a:r>
          </a:p>
          <a:p>
            <a:pPr lvl="0"/>
            <a:r>
              <a:rPr b="1"/>
              <a:t>DELETE</a:t>
            </a:r>
            <a:r>
              <a:t>: Remove data</a:t>
            </a:r>
          </a:p>
          <a:p>
            <a:pPr lvl="1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DELETE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table_name </a:t>
            </a:r>
            <a:r>
              <a:rPr b="1">
                <a:solidFill>
                  <a:srgbClr val="007020"/>
                </a:solidFill>
                <a:latin typeface="Courier"/>
              </a:rPr>
              <a:t>WHERE</a:t>
            </a:r>
            <a:r>
              <a:rPr>
                <a:latin typeface="Courier"/>
              </a:rPr>
              <a:t> condition;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SQL Example</a:t>
            </a:r>
          </a:p>
        </p:txBody>
      </p:sp>
      <p:pic>
        <p:nvPicPr>
          <p:cNvPr id="3" name="Picture 1" descr="./assets/select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98500" y="1193800"/>
            <a:ext cx="7747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Example of SQL query from Drucker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Data Types in 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Varchar</a:t>
            </a:r>
          </a:p>
          <a:p>
            <a:pPr lvl="0"/>
            <a:r>
              <a:rPr b="1"/>
              <a:t>Text</a:t>
            </a:r>
          </a:p>
          <a:p>
            <a:pPr lvl="0"/>
            <a:r>
              <a:rPr b="1"/>
              <a:t>Integer</a:t>
            </a:r>
          </a:p>
          <a:p>
            <a:pPr lvl="0"/>
            <a:r>
              <a:rPr b="1"/>
              <a:t>Float</a:t>
            </a:r>
          </a:p>
          <a:p>
            <a:pPr lvl="0"/>
            <a:r>
              <a:rPr b="1"/>
              <a:t>Boolean</a:t>
            </a:r>
          </a:p>
          <a:p>
            <a:pPr lvl="0"/>
            <a:r>
              <a:rPr b="1"/>
              <a:t>Date</a:t>
            </a:r>
          </a:p>
          <a:p>
            <a:pPr lvl="0"/>
            <a:r>
              <a:rPr b="1"/>
              <a:t>Primary Key</a:t>
            </a:r>
          </a:p>
          <a:p>
            <a:pPr lvl="0"/>
            <a:r>
              <a:rPr b="1"/>
              <a:t>Foreign Key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Integer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An </a:t>
            </a:r>
            <a:r>
              <a:rPr b="1"/>
              <a:t>integer</a:t>
            </a:r>
            <a:r>
              <a:t> data type is a whole number (e.g., 1, 42, -5).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CREATE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TABLE</a:t>
            </a:r>
            <a:r>
              <a:rPr>
                <a:latin typeface="Courier"/>
              </a:rPr>
              <a:t> artists (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id</a:t>
            </a:r>
            <a:r>
              <a:rPr>
                <a:latin typeface="Courier"/>
              </a:rPr>
              <a:t> SERIAL </a:t>
            </a:r>
            <a:r>
              <a:rPr b="1">
                <a:solidFill>
                  <a:srgbClr val="007020"/>
                </a:solidFill>
                <a:latin typeface="Courier"/>
              </a:rPr>
              <a:t>PRIMARY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KEY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name </a:t>
            </a:r>
            <a:r>
              <a:rPr>
                <a:solidFill>
                  <a:srgbClr val="902000"/>
                </a:solidFill>
                <a:latin typeface="Courier"/>
              </a:rPr>
              <a:t>VARCHAR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100</a:t>
            </a:r>
            <a:r>
              <a:rPr>
                <a:latin typeface="Courier"/>
              </a:rPr>
              <a:t>),</a:t>
            </a:r>
            <a:br/>
            <a:r>
              <a:rPr>
                <a:latin typeface="Courier"/>
              </a:rPr>
              <a:t>    birth_year </a:t>
            </a:r>
            <a:r>
              <a:rPr>
                <a:solidFill>
                  <a:srgbClr val="902000"/>
                </a:solidFill>
                <a:latin typeface="Courier"/>
              </a:rPr>
              <a:t>INTEGER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death_year </a:t>
            </a:r>
            <a:r>
              <a:rPr>
                <a:solidFill>
                  <a:srgbClr val="902000"/>
                </a:solidFill>
                <a:latin typeface="Courier"/>
              </a:rPr>
              <a:t>INTEGER</a:t>
            </a:r>
            <a:br/>
            <a:r>
              <a:rPr>
                <a:latin typeface="Courier"/>
              </a:rPr>
              <a:t>);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Varchar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A variable-length string (e.g., ‘Hello’, ‘World’). Typically, it has a maximum length defined which is a positive integer representing the number of characters.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CREATE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TABLE</a:t>
            </a:r>
            <a:r>
              <a:rPr>
                <a:latin typeface="Courier"/>
              </a:rPr>
              <a:t> artists (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id</a:t>
            </a:r>
            <a:r>
              <a:rPr>
                <a:latin typeface="Courier"/>
              </a:rPr>
              <a:t> SERIAL </a:t>
            </a:r>
            <a:r>
              <a:rPr b="1">
                <a:solidFill>
                  <a:srgbClr val="007020"/>
                </a:solidFill>
                <a:latin typeface="Courier"/>
              </a:rPr>
              <a:t>PRIMARY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KEY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name </a:t>
            </a:r>
            <a:r>
              <a:rPr>
                <a:solidFill>
                  <a:srgbClr val="902000"/>
                </a:solidFill>
                <a:latin typeface="Courier"/>
              </a:rPr>
              <a:t>VARCHAR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100</a:t>
            </a:r>
            <a:r>
              <a:rPr>
                <a:latin typeface="Courier"/>
              </a:rPr>
              <a:t>),</a:t>
            </a:r>
            <a:br/>
            <a:r>
              <a:rPr>
                <a:latin typeface="Courier"/>
              </a:rPr>
              <a:t>    birth_year </a:t>
            </a:r>
            <a:r>
              <a:rPr>
                <a:solidFill>
                  <a:srgbClr val="902000"/>
                </a:solidFill>
                <a:latin typeface="Courier"/>
              </a:rPr>
              <a:t>INTEGER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death_year </a:t>
            </a:r>
            <a:r>
              <a:rPr>
                <a:solidFill>
                  <a:srgbClr val="902000"/>
                </a:solidFill>
                <a:latin typeface="Courier"/>
              </a:rPr>
              <a:t>INTEGER</a:t>
            </a:r>
            <a:br/>
            <a:r>
              <a:rPr>
                <a:latin typeface="Courier"/>
              </a:rPr>
              <a:t>);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Dates: </a:t>
            </a:r>
            <a:r>
              <a:rPr b="1"/>
              <a:t>date</a:t>
            </a:r>
            <a:r>
              <a:t>, </a:t>
            </a:r>
            <a:r>
              <a:rPr b="1"/>
              <a:t>varchar</a:t>
            </a:r>
            <a:r>
              <a:t>, and </a:t>
            </a:r>
            <a:r>
              <a:rPr b="1"/>
              <a:t>integers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buAutoNum type="arabicPeriod"/>
            </a:pPr>
            <a:r>
              <a:t>Date type: ‘YYYY-MM-DD’ (ISO 8601) –&gt; calculations</a:t>
            </a:r>
          </a:p>
          <a:p>
            <a:pPr marL="342900" lvl="0" indent="-342900">
              <a:buAutoNum type="arabicPeriod"/>
            </a:pPr>
            <a:r>
              <a:t>Integer: year or month or day</a:t>
            </a:r>
          </a:p>
          <a:p>
            <a:pPr marL="342900" lvl="0" indent="-342900">
              <a:buAutoNum type="arabicPeriod"/>
            </a:pPr>
            <a:r>
              <a:t>Varchar: preserves resolution: 1990, ‘1990-05’, ‘1990-05-15’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CREATE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TABLE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events</a:t>
            </a:r>
            <a:r>
              <a:rPr>
                <a:latin typeface="Courier"/>
              </a:rPr>
              <a:t> (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id</a:t>
            </a:r>
            <a:r>
              <a:rPr>
                <a:latin typeface="Courier"/>
              </a:rPr>
              <a:t> SERIAL </a:t>
            </a:r>
            <a:r>
              <a:rPr b="1">
                <a:solidFill>
                  <a:srgbClr val="007020"/>
                </a:solidFill>
                <a:latin typeface="Courier"/>
              </a:rPr>
              <a:t>PRIMARY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KEY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event_name </a:t>
            </a:r>
            <a:r>
              <a:rPr>
                <a:solidFill>
                  <a:srgbClr val="902000"/>
                </a:solidFill>
                <a:latin typeface="Courier"/>
              </a:rPr>
              <a:t>VARCHAR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100</a:t>
            </a:r>
            <a:r>
              <a:rPr>
                <a:latin typeface="Courier"/>
              </a:rPr>
              <a:t>),</a:t>
            </a:r>
            <a:br/>
            <a:r>
              <a:rPr>
                <a:latin typeface="Courier"/>
              </a:rPr>
              <a:t>    event_date </a:t>
            </a:r>
            <a:r>
              <a:rPr>
                <a:solidFill>
                  <a:srgbClr val="902000"/>
                </a:solidFill>
                <a:latin typeface="Courier"/>
              </a:rPr>
              <a:t>DATE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date_iso8601 </a:t>
            </a:r>
            <a:r>
              <a:rPr>
                <a:solidFill>
                  <a:srgbClr val="902000"/>
                </a:solidFill>
                <a:latin typeface="Courier"/>
              </a:rPr>
              <a:t>VARCHAR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latin typeface="Courier"/>
              </a:rPr>
              <a:t>),</a:t>
            </a:r>
            <a:br/>
            <a:r>
              <a:rPr>
                <a:latin typeface="Courier"/>
              </a:rPr>
              <a:t>    event_year </a:t>
            </a:r>
            <a:r>
              <a:rPr>
                <a:solidFill>
                  <a:srgbClr val="902000"/>
                </a:solidFill>
                <a:latin typeface="Courier"/>
              </a:rPr>
              <a:t>INTEGER</a:t>
            </a:r>
            <a:r>
              <a:rPr>
                <a:latin typeface="Courier"/>
              </a:rPr>
              <a:t>);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Boolean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A true/false value (e.g., TRUE, FALSE). Useful for binary attributes such as “was_soldier”, “was_civilian”, etc.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CREATE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TABLE</a:t>
            </a:r>
            <a:r>
              <a:rPr>
                <a:latin typeface="Courier"/>
              </a:rPr>
              <a:t> people (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id</a:t>
            </a:r>
            <a:r>
              <a:rPr>
                <a:latin typeface="Courier"/>
              </a:rPr>
              <a:t> SERIAL </a:t>
            </a:r>
            <a:r>
              <a:rPr b="1">
                <a:solidFill>
                  <a:srgbClr val="007020"/>
                </a:solidFill>
                <a:latin typeface="Courier"/>
              </a:rPr>
              <a:t>PRIMARY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KEY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name </a:t>
            </a:r>
            <a:r>
              <a:rPr>
                <a:solidFill>
                  <a:srgbClr val="902000"/>
                </a:solidFill>
                <a:latin typeface="Courier"/>
              </a:rPr>
              <a:t>VARCHAR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100</a:t>
            </a:r>
            <a:r>
              <a:rPr>
                <a:latin typeface="Courier"/>
              </a:rPr>
              <a:t>),</a:t>
            </a:r>
            <a:br/>
            <a:r>
              <a:rPr>
                <a:latin typeface="Courier"/>
              </a:rPr>
              <a:t>    was_soldier </a:t>
            </a:r>
            <a:r>
              <a:rPr>
                <a:solidFill>
                  <a:srgbClr val="902000"/>
                </a:solidFill>
                <a:latin typeface="Courier"/>
              </a:rPr>
              <a:t>BOOLEAN</a:t>
            </a:r>
            <a:br/>
            <a:r>
              <a:rPr>
                <a:latin typeface="Courier"/>
              </a:rPr>
              <a:t>);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Float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A number with a decimal point (e.g., 3.14, -0.001). Useful for economic values or even heights and weights on things like army registration cards.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CREATE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TABLE</a:t>
            </a:r>
            <a:r>
              <a:rPr>
                <a:latin typeface="Courier"/>
              </a:rPr>
              <a:t> measurements (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id</a:t>
            </a:r>
            <a:r>
              <a:rPr>
                <a:latin typeface="Courier"/>
              </a:rPr>
              <a:t> SERIAL </a:t>
            </a:r>
            <a:r>
              <a:rPr b="1">
                <a:solidFill>
                  <a:srgbClr val="007020"/>
                </a:solidFill>
                <a:latin typeface="Courier"/>
              </a:rPr>
              <a:t>PRIMARY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KEY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soldier_name </a:t>
            </a:r>
            <a:r>
              <a:rPr>
                <a:solidFill>
                  <a:srgbClr val="902000"/>
                </a:solidFill>
                <a:latin typeface="Courier"/>
              </a:rPr>
              <a:t>VARCHAR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100</a:t>
            </a:r>
            <a:r>
              <a:rPr>
                <a:latin typeface="Courier"/>
              </a:rPr>
              <a:t>),</a:t>
            </a:r>
            <a:br/>
            <a:r>
              <a:rPr>
                <a:latin typeface="Courier"/>
              </a:rPr>
              <a:t>    weight </a:t>
            </a:r>
            <a:r>
              <a:rPr>
                <a:solidFill>
                  <a:srgbClr val="902000"/>
                </a:solidFill>
                <a:latin typeface="Courier"/>
              </a:rPr>
              <a:t>FLOAT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height </a:t>
            </a:r>
            <a:r>
              <a:rPr>
                <a:solidFill>
                  <a:srgbClr val="902000"/>
                </a:solidFill>
                <a:latin typeface="Courier"/>
              </a:rPr>
              <a:t>FLOAT</a:t>
            </a:r>
            <a:br/>
            <a:r>
              <a:rPr>
                <a:latin typeface="Courier"/>
              </a:rPr>
              <a:t>);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Primary Key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The </a:t>
            </a:r>
            <a:r>
              <a:rPr b="1"/>
              <a:t>Primary Key</a:t>
            </a:r>
            <a:r>
              <a:t>: A unique identifier for each record in a table (e.g., an auto-incrementing integer`). It is good practices to have a primary key in every table (except for join tables that only have foreign keys).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CREATE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TABLE</a:t>
            </a:r>
            <a:r>
              <a:rPr>
                <a:latin typeface="Courier"/>
              </a:rPr>
              <a:t> artists (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id</a:t>
            </a:r>
            <a:r>
              <a:rPr>
                <a:latin typeface="Courier"/>
              </a:rPr>
              <a:t> SERIAL </a:t>
            </a:r>
            <a:r>
              <a:rPr b="1">
                <a:solidFill>
                  <a:srgbClr val="007020"/>
                </a:solidFill>
                <a:latin typeface="Courier"/>
              </a:rPr>
              <a:t>PRIMARY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KEY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name </a:t>
            </a:r>
            <a:r>
              <a:rPr>
                <a:solidFill>
                  <a:srgbClr val="902000"/>
                </a:solidFill>
                <a:latin typeface="Courier"/>
              </a:rPr>
              <a:t>VARCHAR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100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);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Foreign Key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A field in one table that refers to the primary key in another table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CREATE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TABLE</a:t>
            </a:r>
            <a:r>
              <a:rPr>
                <a:latin typeface="Courier"/>
              </a:rPr>
              <a:t> relationships (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id</a:t>
            </a:r>
            <a:r>
              <a:rPr>
                <a:latin typeface="Courier"/>
              </a:rPr>
              <a:t> SERIAL </a:t>
            </a:r>
            <a:r>
              <a:rPr b="1">
                <a:solidFill>
                  <a:srgbClr val="007020"/>
                </a:solidFill>
                <a:latin typeface="Courier"/>
              </a:rPr>
              <a:t>PRIMARY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KEY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soldier_id </a:t>
            </a:r>
            <a:r>
              <a:rPr>
                <a:solidFill>
                  <a:srgbClr val="902000"/>
                </a:solidFill>
                <a:latin typeface="Courier"/>
              </a:rPr>
              <a:t>INTEGER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REFERENCES</a:t>
            </a:r>
            <a:r>
              <a:rPr>
                <a:latin typeface="Courier"/>
              </a:rPr>
              <a:t> soldiers(</a:t>
            </a:r>
            <a:r>
              <a:rPr b="1">
                <a:solidFill>
                  <a:srgbClr val="007020"/>
                </a:solidFill>
                <a:latin typeface="Courier"/>
              </a:rPr>
              <a:t>id</a:t>
            </a:r>
            <a:r>
              <a:rPr>
                <a:latin typeface="Courier"/>
              </a:rPr>
              <a:t>),</a:t>
            </a:r>
            <a:br/>
            <a:r>
              <a:rPr>
                <a:latin typeface="Courier"/>
              </a:rPr>
              <a:t>    individual_id </a:t>
            </a:r>
            <a:r>
              <a:rPr>
                <a:solidFill>
                  <a:srgbClr val="902000"/>
                </a:solidFill>
                <a:latin typeface="Courier"/>
              </a:rPr>
              <a:t>INTEGER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REFERENCES</a:t>
            </a:r>
            <a:r>
              <a:rPr>
                <a:latin typeface="Courier"/>
              </a:rPr>
              <a:t> individuals(</a:t>
            </a:r>
            <a:r>
              <a:rPr b="1">
                <a:solidFill>
                  <a:srgbClr val="007020"/>
                </a:solidFill>
                <a:latin typeface="Courier"/>
              </a:rPr>
              <a:t>id</a:t>
            </a:r>
            <a:r>
              <a:rPr>
                <a:latin typeface="Courier"/>
              </a:rPr>
              <a:t>),</a:t>
            </a:r>
            <a:br/>
            <a:r>
              <a:rPr>
                <a:latin typeface="Courier"/>
              </a:rPr>
              <a:t>    relationship_type </a:t>
            </a:r>
            <a:r>
              <a:rPr>
                <a:solidFill>
                  <a:srgbClr val="902000"/>
                </a:solidFill>
                <a:latin typeface="Courier"/>
              </a:rPr>
              <a:t>VARCHAR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50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);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Serials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Serials are auto-incrementing integers that are often used as primary keys in SQL tables. When a new record is inserted into the table, the serial value is automatically generated and incremented by 1 from the previous value.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CREATE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TABLE</a:t>
            </a:r>
            <a:r>
              <a:rPr>
                <a:latin typeface="Courier"/>
              </a:rPr>
              <a:t> artists (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id</a:t>
            </a:r>
            <a:r>
              <a:rPr>
                <a:latin typeface="Courier"/>
              </a:rPr>
              <a:t> SERIAL </a:t>
            </a:r>
            <a:r>
              <a:rPr b="1">
                <a:solidFill>
                  <a:srgbClr val="007020"/>
                </a:solidFill>
                <a:latin typeface="Courier"/>
              </a:rPr>
              <a:t>PRIMARY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KEY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name </a:t>
            </a:r>
            <a:r>
              <a:rPr>
                <a:solidFill>
                  <a:srgbClr val="902000"/>
                </a:solidFill>
                <a:latin typeface="Courier"/>
              </a:rPr>
              <a:t>VARCHAR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100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);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One to Many (1:M) vs Many to Many (M:N)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Relational databases: named as such b/c they model relationships</a:t>
            </a:r>
          </a:p>
          <a:p>
            <a:pPr lvl="0"/>
            <a:r>
              <a:t>There are two main types of relationships: one to many (1:M) and many to many (M:N).</a:t>
            </a:r>
          </a:p>
          <a:p>
            <a:pPr lvl="1"/>
            <a:r>
              <a:rPr b="1"/>
              <a:t>One to Many (1:M)</a:t>
            </a:r>
            <a:r>
              <a:t>: record in a table associated with multiple records in another table</a:t>
            </a:r>
          </a:p>
          <a:p>
            <a:pPr lvl="1"/>
            <a:r>
              <a:rPr b="1"/>
              <a:t>Many to Many (M:N)</a:t>
            </a:r>
            <a:r>
              <a:t>: multiple records associated with multiple records in another table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Modeling Relationships in 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To model a 1:M relationship, you can use a foreign key in the “many” table that references the primary key of the “one” table</a:t>
            </a:r>
          </a:p>
          <a:p>
            <a:pPr lvl="0"/>
            <a:r>
              <a:t>To model a M:N relationship, you need to create a join table that contains foreign keys referencing the primary keys of both tables.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1139</Words>
  <Application>Microsoft Office PowerPoint</Application>
  <PresentationFormat>On-screen Show (16:9)</PresentationFormat>
  <Paragraphs>88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Courier</vt:lpstr>
      <vt:lpstr>Office Theme</vt:lpstr>
      <vt:lpstr>Databases for Historians</vt:lpstr>
      <vt:lpstr>What is a “database”?</vt:lpstr>
      <vt:lpstr>Flat database</vt:lpstr>
      <vt:lpstr>Hierarchical database</vt:lpstr>
      <vt:lpstr>GraphQL database</vt:lpstr>
      <vt:lpstr>Relational Database Management System (RDBMS)</vt:lpstr>
      <vt:lpstr>Artists &lt;-&gt; Works &lt;-&gt; Owners</vt:lpstr>
      <vt:lpstr>Primary and Foreign Keys</vt:lpstr>
      <vt:lpstr>SQL (Structured Query Language)</vt:lpstr>
      <vt:lpstr>Parts of a SQL Query</vt:lpstr>
      <vt:lpstr>Some Important SQL Commands 1 of 3</vt:lpstr>
      <vt:lpstr>Some Important SQL Commands 2 of 3</vt:lpstr>
      <vt:lpstr>Some Important SQL Commands 3 of 3</vt:lpstr>
      <vt:lpstr>SQL Example</vt:lpstr>
      <vt:lpstr>Data Types in SQL</vt:lpstr>
      <vt:lpstr>Integer</vt:lpstr>
      <vt:lpstr>Varchar</vt:lpstr>
      <vt:lpstr>Dates: date, varchar, and integers</vt:lpstr>
      <vt:lpstr>Boolean</vt:lpstr>
      <vt:lpstr>Float</vt:lpstr>
      <vt:lpstr>Primary Key</vt:lpstr>
      <vt:lpstr>Foreign Key</vt:lpstr>
      <vt:lpstr>Serials</vt:lpstr>
      <vt:lpstr>One to Many (1:M) vs Many to Many (M:N) Relationships</vt:lpstr>
      <vt:lpstr>Modeling Relationships in SQL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Databases for Historians</dc:title>
  <dc:creator>B. Skopyk</dc:creator>
  <cp:keywords/>
  <cp:lastModifiedBy>Bradley Skopyk</cp:lastModifiedBy>
  <cp:revision>1</cp:revision>
  <dcterms:created xsi:type="dcterms:W3CDTF">2026-02-11T22:47:25Z</dcterms:created>
  <dcterms:modified xsi:type="dcterms:W3CDTF">2026-02-16T22:07:49Z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2026-02-10</vt:lpwstr>
  </property>
  <property fmtid="{D5CDD505-2E9C-101B-9397-08002B2CF9AE}" pid="3" name="subtitle">
    <vt:lpwstr>flat, hierarchical, relational</vt:lpwstr>
  </property>
</Properties>
</file>