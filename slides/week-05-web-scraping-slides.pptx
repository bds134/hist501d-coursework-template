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notesMaster" Target="notesMasters/notesMaster1.xml" /><Relationship Id="rId32" Type="http://schemas.openxmlformats.org/officeDocument/2006/relationships/viewProps" Target="viewProps.xml" /><Relationship Id="rId31" Type="http://schemas.openxmlformats.org/officeDocument/2006/relationships/presProps" Target="presProps.xml" /><Relationship Id="rId1" Type="http://schemas.openxmlformats.org/officeDocument/2006/relationships/slideMaster" Target="slideMasters/slideMaster1.xml" /><Relationship Id="rId34" Type="http://schemas.openxmlformats.org/officeDocument/2006/relationships/tableStyles" Target="tableStyles.xml" /><Relationship Id="rId3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type of endpoint has a single parameter (the event ID) that is passed in the URL path. It allows you to retrieve information about a specific event by its unique identifier.</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Query parameters allow us to filter and modify the data returned by the API. In this example, we are searching for events that occurred between the years 1700 and 1820, in the state of Jalisco, and with a domain ID of 3. The API will return a list of events that match these criteria.</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 request is plain text, with sections separated by newlines.</a:t>
            </a:r>
          </a:p>
          <a:p>
            <a:pPr lvl="0" indent="0" marL="0">
              <a:buNone/>
            </a:pPr>
          </a:p>
          <a:p>
            <a:pPr lvl="0"/>
            <a:r>
              <a:rPr/>
              <a:t>The first line specifies the HTTP method (POST), the endpoint (/api/items), and the HTTP version (HTTP/1.1).</a:t>
            </a:r>
          </a:p>
          <a:p>
            <a:pPr lvl="0" indent="0" marL="0">
              <a:buNone/>
            </a:pPr>
          </a:p>
          <a:p>
            <a:pPr lvl="0"/>
            <a:r>
              <a:rPr/>
              <a:t>The following lines are headers that provide additional information about the request, such as the host, content type, and authorization token.</a:t>
            </a:r>
          </a:p>
          <a:p>
            <a:pPr lvl="0" indent="0" marL="0">
              <a:buNone/>
            </a:pPr>
          </a:p>
          <a:p>
            <a:pPr lvl="0"/>
            <a:r>
              <a:rPr/>
              <a:t>The body of the request contains the data being sent to the server, formatted as JSON in this case.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latin typeface="Courier"/>
              </a:rPr>
              <a:t>-X</a:t>
            </a:r>
            <a:r>
              <a:rPr/>
              <a:t> flag specifies the HTTP method (GET, POST, etc.)</a:t>
            </a:r>
          </a:p>
          <a:p>
            <a:pPr lvl="0" indent="0" marL="0">
              <a:buNone/>
            </a:pPr>
          </a:p>
          <a:p>
            <a:pPr lvl="0"/>
            <a:r>
              <a:rPr>
                <a:latin typeface="Courier"/>
              </a:rPr>
              <a:t>GET</a:t>
            </a:r>
            <a:r>
              <a:rPr/>
              <a:t> request (default for curl if no method is specified)</a:t>
            </a:r>
          </a:p>
          <a:p>
            <a:pPr lvl="0" indent="0" marL="0">
              <a:buNone/>
            </a:pPr>
          </a:p>
          <a:p>
            <a:pPr lvl="0"/>
            <a:r>
              <a:rPr/>
              <a:t>URL specifies the API endpoint and query parameters</a:t>
            </a:r>
          </a:p>
          <a:p>
            <a:pPr lvl="0" indent="0" marL="0">
              <a:buNone/>
            </a:pPr>
          </a:p>
          <a:p>
            <a:pPr lvl="0"/>
            <a:r>
              <a:rPr/>
              <a:t>To get specific keys from the JSON response, you can use tools like </a:t>
            </a:r>
            <a:r>
              <a:rPr>
                <a:latin typeface="Courier"/>
              </a:rPr>
              <a:t>jq</a:t>
            </a:r>
            <a:r>
              <a:rPr/>
              <a:t> in the command line or parse the JSON in a programming language like Python. For example, using </a:t>
            </a:r>
            <a:r>
              <a:rPr>
                <a:latin typeface="Courier"/>
              </a:rPr>
              <a:t>jq</a:t>
            </a:r>
            <a:r>
              <a:rPr/>
              <a:t> to extract the event quotation from the response:</a:t>
            </a:r>
          </a:p>
          <a:p>
            <a:pPr lvl="0" indent="0" marL="0">
              <a:buNone/>
            </a:pPr>
          </a:p>
          <a:p>
            <a:pPr lvl="0" indent="0">
              <a:buNone/>
            </a:pPr>
            <a:r>
              <a:rPr>
                <a:latin typeface="Courier"/>
              </a:rPr>
              <a:t>    curl </a:t>
            </a:r>
            <a:r>
              <a:rPr>
                <a:solidFill>
                  <a:srgbClr val="7D9029"/>
                </a:solidFill>
                <a:latin typeface="Courier"/>
              </a:rPr>
              <a:t>-X</a:t>
            </a:r>
            <a:r>
              <a:rPr>
                <a:latin typeface="Courier"/>
              </a:rPr>
              <a:t> GET </a:t>
            </a:r>
            <a:r>
              <a:rPr>
                <a:solidFill>
                  <a:srgbClr val="4070A0"/>
                </a:solidFill>
                <a:latin typeface="Courier"/>
              </a:rPr>
              <a:t>"https://ecocrisis.net/eventinfo/public/event/99"</a:t>
            </a:r>
            <a:r>
              <a:rPr>
                <a:latin typeface="Courier"/>
              </a:rPr>
              <a:t> </a:t>
            </a:r>
            <a:r>
              <a:rPr b="1">
                <a:solidFill>
                  <a:srgbClr val="007020"/>
                </a:solidFill>
                <a:latin typeface="Courier"/>
              </a:rPr>
              <a:t>|</a:t>
            </a:r>
            <a:r>
              <a:rPr>
                <a:latin typeface="Courier"/>
              </a:rPr>
              <a:t> jq </a:t>
            </a:r>
            <a:r>
              <a:rPr>
                <a:solidFill>
                  <a:srgbClr val="4070A0"/>
                </a:solidFill>
                <a:latin typeface="Courier"/>
              </a:rPr>
              <a:t>'.event_quote'</a:t>
            </a:r>
          </a:p>
          <a:p>
            <a:pPr lvl="0" indent="0" marL="0">
              <a:buNone/>
            </a:pPr>
          </a:p>
          <a:p>
            <a:pPr lvl="0"/>
            <a:r>
              <a:rPr/>
              <a:t>JQ (“JSON Query”) is a lightweight and flexible command-line JSON processor that allows you to filter and manipulate JSON data easily. In this example, it extracts the value of the </a:t>
            </a:r>
            <a:r>
              <a:rPr>
                <a:latin typeface="Courier"/>
              </a:rPr>
              <a:t>event_quote</a:t>
            </a:r>
            <a:r>
              <a:rPr/>
              <a:t> key from the JSON response returned by the API.</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latin typeface="Courier"/>
              </a:rPr>
              <a:t>requests.get()</a:t>
            </a:r>
            <a:r>
              <a:rPr/>
              <a:t> sends a GET request to the specified URL</a:t>
            </a:r>
          </a:p>
          <a:p>
            <a:pPr lvl="0" indent="0" marL="0">
              <a:buNone/>
            </a:pPr>
          </a:p>
          <a:p>
            <a:pPr lvl="0"/>
            <a:r>
              <a:rPr>
                <a:latin typeface="Courier"/>
              </a:rPr>
              <a:t>response.json()</a:t>
            </a:r>
            <a:r>
              <a:rPr/>
              <a:t> parses the JSON response from the server and returns it as a Python dictionary</a:t>
            </a:r>
          </a:p>
          <a:p>
            <a:pPr lvl="0" indent="0" marL="0">
              <a:buNone/>
            </a:pPr>
          </a:p>
          <a:p>
            <a:pPr lvl="0"/>
            <a:r>
              <a:rPr/>
              <a:t>run directly in CLI without python script using the </a:t>
            </a:r>
            <a:r>
              <a:rPr>
                <a:latin typeface="Courier"/>
              </a:rPr>
              <a:t>-c</a:t>
            </a:r>
            <a:r>
              <a:rPr/>
              <a:t> flag:</a:t>
            </a:r>
          </a:p>
          <a:p>
            <a:pPr lvl="0" indent="0" marL="0">
              <a:buNone/>
            </a:pPr>
          </a:p>
          <a:p>
            <a:pPr lvl="0" indent="0">
              <a:buNone/>
            </a:pPr>
            <a:r>
              <a:rPr>
                <a:latin typeface="Courier"/>
              </a:rPr>
              <a:t>python </a:t>
            </a:r>
            <a:r>
              <a:rPr>
                <a:solidFill>
                  <a:srgbClr val="7D9029"/>
                </a:solidFill>
                <a:latin typeface="Courier"/>
              </a:rPr>
              <a:t>-c</a:t>
            </a:r>
            <a:r>
              <a:rPr>
                <a:latin typeface="Courier"/>
              </a:rPr>
              <a:t> </a:t>
            </a:r>
            <a:r>
              <a:rPr>
                <a:solidFill>
                  <a:srgbClr val="4070A0"/>
                </a:solidFill>
                <a:latin typeface="Courier"/>
              </a:rPr>
              <a:t>"import requests; endpoint = 'https://ecocrisis.net/eventinfo/public/event/99'; response = requests.get(endpoint); print(response.json()['event_quote'])"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github.com/bds134/hist501d-coursework-template/blob/main/ref-guides/MINI_PUBLIC_API_GUIDE.md"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Web Content Extraction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Scraping, HTML primer, and APIs</a:t>
            </a:r>
            <a:br/>
            <a:br/>
            <a:r>
              <a:rPr/>
              <a:t>B. Skopyk</a:t>
            </a:r>
          </a:p>
        </p:txBody>
      </p:sp>
      <p:sp>
        <p:nvSpPr>
          <p:cNvPr id="4" name="Date Placeholder 3"/>
          <p:cNvSpPr>
            <a:spLocks noGrp="1"/>
          </p:cNvSpPr>
          <p:nvPr>
            <p:ph idx="10" sz="half" type="dt"/>
          </p:nvPr>
        </p:nvSpPr>
        <p:spPr/>
        <p:txBody>
          <a:bodyPr/>
          <a:lstStyle/>
          <a:p>
            <a:pPr lvl="0" indent="0" marL="0">
              <a:buNone/>
            </a:pPr>
            <a:r>
              <a:rPr/>
              <a:t>2026-02-23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Scraping</a:t>
            </a:r>
          </a:p>
        </p:txBody>
      </p:sp>
      <p:sp>
        <p:nvSpPr>
          <p:cNvPr id="3" name="Content Placeholder 2"/>
          <p:cNvSpPr>
            <a:spLocks noGrp="1"/>
          </p:cNvSpPr>
          <p:nvPr>
            <p:ph idx="1"/>
          </p:nvPr>
        </p:nvSpPr>
        <p:spPr/>
        <p:txBody>
          <a:bodyPr/>
          <a:lstStyle/>
          <a:p>
            <a:pPr lvl="0"/>
            <a:r>
              <a:rPr/>
              <a:t>Scraping is the process of extracting data from websites. It involves sending HTTP requests to a website, parsing the HTML content, and extracting the desired information.</a:t>
            </a:r>
          </a:p>
          <a:p>
            <a:pPr lvl="0"/>
            <a:r>
              <a:rPr/>
              <a:t>Scraping can be done using various tools and libraries, such as BeautifulSoup, Scrapy, and Selenium. These tools allow you to navigate the structure of a webpage and extract specific elements, such as text, images, or links.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Ethical and Legal Considerations of Scraping</a:t>
            </a:r>
          </a:p>
        </p:txBody>
      </p:sp>
      <p:sp>
        <p:nvSpPr>
          <p:cNvPr id="3" name="Content Placeholder 2"/>
          <p:cNvSpPr>
            <a:spLocks noGrp="1"/>
          </p:cNvSpPr>
          <p:nvPr>
            <p:ph idx="1"/>
          </p:nvPr>
        </p:nvSpPr>
        <p:spPr/>
        <p:txBody>
          <a:bodyPr/>
          <a:lstStyle/>
          <a:p>
            <a:pPr lvl="0"/>
            <a:r>
              <a:rPr/>
              <a:t>Scraping can be useful for collecting data from websites that do not provide an API, or for gathering data that is not easily accessible through an API. However, it is important to be mindful of the legal and ethical considerations when scraping websites, as some sites may have terms of service that prohibit scraping or may require permission before scraping.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 HTML Primer</a:t>
            </a:r>
          </a:p>
        </p:txBody>
      </p:sp>
      <p:sp>
        <p:nvSpPr>
          <p:cNvPr id="3" name="Content Placeholder 2"/>
          <p:cNvSpPr>
            <a:spLocks noGrp="1"/>
          </p:cNvSpPr>
          <p:nvPr>
            <p:ph idx="1"/>
          </p:nvPr>
        </p:nvSpPr>
        <p:spPr/>
        <p:txBody>
          <a:bodyPr/>
          <a:lstStyle/>
          <a:p>
            <a:pPr lvl="0"/>
            <a:r>
              <a:rPr/>
              <a:t>HTML (HyperText Markup Language) is the standard markup language used to create web pages.</a:t>
            </a:r>
          </a:p>
          <a:p>
            <a:pPr lvl="0"/>
            <a:r>
              <a:rPr/>
              <a:t>An HTML document is announced by the </a:t>
            </a:r>
            <a:r>
              <a:rPr>
                <a:latin typeface="Courier"/>
              </a:rPr>
              <a:t>&lt;!DOCTYPE html&gt;</a:t>
            </a:r>
            <a:r>
              <a:rPr/>
              <a:t> declaration</a:t>
            </a:r>
          </a:p>
          <a:p>
            <a:pPr lvl="0" indent="0">
              <a:buNone/>
            </a:pPr>
            <a:r>
              <a:rPr>
                <a:solidFill>
                  <a:srgbClr val="902000"/>
                </a:solidFill>
                <a:latin typeface="Courier"/>
              </a:rPr>
              <a:t>&lt;!DOCTYPE</a:t>
            </a:r>
            <a:r>
              <a:rPr>
                <a:latin typeface="Courier"/>
              </a:rPr>
              <a:t> html</a:t>
            </a:r>
            <a:r>
              <a:rPr>
                <a:solidFill>
                  <a:srgbClr val="902000"/>
                </a:solidFill>
                <a:latin typeface="Courier"/>
              </a:rPr>
              <a:t>&gt;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HTML Root Element</a:t>
            </a:r>
          </a:p>
        </p:txBody>
      </p:sp>
      <p:sp>
        <p:nvSpPr>
          <p:cNvPr id="3" name="Content Placeholder 2"/>
          <p:cNvSpPr>
            <a:spLocks noGrp="1"/>
          </p:cNvSpPr>
          <p:nvPr>
            <p:ph idx="1"/>
          </p:nvPr>
        </p:nvSpPr>
        <p:spPr/>
        <p:txBody>
          <a:bodyPr/>
          <a:lstStyle/>
          <a:p>
            <a:pPr lvl="0" indent="0" marL="0">
              <a:buNone/>
            </a:pPr>
            <a:r>
              <a:rPr/>
              <a:t>The root element of an HTML document is the </a:t>
            </a:r>
            <a:r>
              <a:rPr>
                <a:latin typeface="Courier"/>
              </a:rPr>
              <a:t>&lt;html&gt;</a:t>
            </a:r>
            <a:r>
              <a:rPr/>
              <a:t> tag, which contains the entire content of the webpage.</a:t>
            </a:r>
          </a:p>
          <a:p>
            <a:pPr lvl="0" indent="0">
              <a:buNone/>
            </a:pPr>
            <a:r>
              <a:rPr>
                <a:solidFill>
                  <a:srgbClr val="902000"/>
                </a:solidFill>
                <a:latin typeface="Courier"/>
              </a:rPr>
              <a:t>&lt;</a:t>
            </a:r>
            <a:r>
              <a:rPr b="1">
                <a:solidFill>
                  <a:srgbClr val="007020"/>
                </a:solidFill>
                <a:latin typeface="Courier"/>
              </a:rPr>
              <a:t>html</a:t>
            </a:r>
            <a:r>
              <a:rPr>
                <a:solidFill>
                  <a:srgbClr val="902000"/>
                </a:solidFill>
                <a:latin typeface="Courier"/>
              </a:rPr>
              <a:t>&gt;</a:t>
            </a:r>
            <a:br/>
            <a:r>
              <a:rPr>
                <a:latin typeface="Courier"/>
              </a:rPr>
              <a:t>    ...</a:t>
            </a:r>
            <a:br/>
            <a:r>
              <a:rPr>
                <a:solidFill>
                  <a:srgbClr val="902000"/>
                </a:solidFill>
                <a:latin typeface="Courier"/>
              </a:rPr>
              <a:t>&lt;/</a:t>
            </a:r>
            <a:r>
              <a:rPr b="1">
                <a:solidFill>
                  <a:srgbClr val="007020"/>
                </a:solidFill>
                <a:latin typeface="Courier"/>
              </a:rPr>
              <a:t>html</a:t>
            </a:r>
            <a:r>
              <a:rPr>
                <a:solidFill>
                  <a:srgbClr val="902000"/>
                </a:solidFill>
                <a:latin typeface="Courier"/>
              </a:rPr>
              <a:t>&gt;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HTML Elements and Tags</a:t>
            </a:r>
          </a:p>
        </p:txBody>
      </p:sp>
      <p:sp>
        <p:nvSpPr>
          <p:cNvPr id="3" name="Content Placeholder 2"/>
          <p:cNvSpPr>
            <a:spLocks noGrp="1"/>
          </p:cNvSpPr>
          <p:nvPr>
            <p:ph idx="1"/>
          </p:nvPr>
        </p:nvSpPr>
        <p:spPr/>
        <p:txBody>
          <a:bodyPr/>
          <a:lstStyle/>
          <a:p>
            <a:pPr lvl="0" indent="0" marL="0">
              <a:buNone/>
            </a:pPr>
            <a:r>
              <a:rPr/>
              <a:t>HTML consists of a series of elements, which are represented by tags in angle brackets that typically come in pairs</a:t>
            </a:r>
          </a:p>
          <a:p>
            <a:pPr lvl="0" indent="0">
              <a:buNone/>
            </a:pPr>
            <a:r>
              <a:rPr>
                <a:solidFill>
                  <a:srgbClr val="902000"/>
                </a:solidFill>
                <a:latin typeface="Courier"/>
              </a:rPr>
              <a:t>&lt;</a:t>
            </a:r>
            <a:r>
              <a:rPr b="1">
                <a:solidFill>
                  <a:srgbClr val="007020"/>
                </a:solidFill>
                <a:latin typeface="Courier"/>
              </a:rPr>
              <a:t>body</a:t>
            </a:r>
            <a:r>
              <a:rPr>
                <a:solidFill>
                  <a:srgbClr val="902000"/>
                </a:solidFill>
                <a:latin typeface="Courier"/>
              </a:rPr>
              <a:t>&gt;</a:t>
            </a:r>
            <a:br/>
            <a:r>
              <a:rPr>
                <a:solidFill>
                  <a:srgbClr val="902000"/>
                </a:solidFill>
                <a:latin typeface="Courier"/>
              </a:rPr>
              <a:t>&lt;</a:t>
            </a:r>
            <a:r>
              <a:rPr b="1">
                <a:solidFill>
                  <a:srgbClr val="007020"/>
                </a:solidFill>
                <a:latin typeface="Courier"/>
              </a:rPr>
              <a:t>h1</a:t>
            </a:r>
            <a:r>
              <a:rPr>
                <a:solidFill>
                  <a:srgbClr val="902000"/>
                </a:solidFill>
                <a:latin typeface="Courier"/>
              </a:rPr>
              <a:t>&gt;</a:t>
            </a:r>
            <a:r>
              <a:rPr>
                <a:latin typeface="Courier"/>
              </a:rPr>
              <a:t>This is a Heading 1 element</a:t>
            </a:r>
            <a:r>
              <a:rPr>
                <a:solidFill>
                  <a:srgbClr val="902000"/>
                </a:solidFill>
                <a:latin typeface="Courier"/>
              </a:rPr>
              <a:t>&lt;/</a:t>
            </a:r>
            <a:r>
              <a:rPr b="1">
                <a:solidFill>
                  <a:srgbClr val="007020"/>
                </a:solidFill>
                <a:latin typeface="Courier"/>
              </a:rPr>
              <a:t>h1</a:t>
            </a:r>
            <a:r>
              <a:rPr>
                <a:solidFill>
                  <a:srgbClr val="902000"/>
                </a:solidFill>
                <a:latin typeface="Courier"/>
              </a:rPr>
              <a:t>&gt;</a:t>
            </a:r>
            <a:br/>
            <a:r>
              <a:rPr>
                <a:solidFill>
                  <a:srgbClr val="902000"/>
                </a:solidFill>
                <a:latin typeface="Courier"/>
              </a:rPr>
              <a:t>&lt;</a:t>
            </a:r>
            <a:r>
              <a:rPr b="1">
                <a:solidFill>
                  <a:srgbClr val="007020"/>
                </a:solidFill>
                <a:latin typeface="Courier"/>
              </a:rPr>
              <a:t>p</a:t>
            </a:r>
            <a:r>
              <a:rPr>
                <a:solidFill>
                  <a:srgbClr val="902000"/>
                </a:solidFill>
                <a:latin typeface="Courier"/>
              </a:rPr>
              <a:t>&gt;</a:t>
            </a:r>
            <a:r>
              <a:rPr>
                <a:latin typeface="Courier"/>
              </a:rPr>
              <a:t>This is a paragraph element.</a:t>
            </a:r>
            <a:r>
              <a:rPr>
                <a:solidFill>
                  <a:srgbClr val="902000"/>
                </a:solidFill>
                <a:latin typeface="Courier"/>
              </a:rPr>
              <a:t>&lt;/</a:t>
            </a:r>
            <a:r>
              <a:rPr b="1">
                <a:solidFill>
                  <a:srgbClr val="007020"/>
                </a:solidFill>
                <a:latin typeface="Courier"/>
              </a:rPr>
              <a:t>p</a:t>
            </a:r>
            <a:r>
              <a:rPr>
                <a:solidFill>
                  <a:srgbClr val="902000"/>
                </a:solidFill>
                <a:latin typeface="Courier"/>
              </a:rPr>
              <a:t>&gt;</a:t>
            </a:r>
            <a:br/>
            <a:r>
              <a:rPr>
                <a:solidFill>
                  <a:srgbClr val="902000"/>
                </a:solidFill>
                <a:latin typeface="Courier"/>
              </a:rPr>
              <a:t>&lt;/</a:t>
            </a:r>
            <a:r>
              <a:rPr b="1">
                <a:solidFill>
                  <a:srgbClr val="007020"/>
                </a:solidFill>
                <a:latin typeface="Courier"/>
              </a:rPr>
              <a:t>body</a:t>
            </a:r>
            <a:r>
              <a:rPr>
                <a:solidFill>
                  <a:srgbClr val="902000"/>
                </a:solidFill>
                <a:latin typeface="Courier"/>
              </a:rPr>
              <a:t>&gt;</a:t>
            </a:r>
          </a:p>
          <a:p>
            <a:pPr lvl="0" indent="0" marL="0">
              <a:buNone/>
            </a:pPr>
            <a:r>
              <a:rPr/>
              <a:t>Some tags are self-closing (e.g., </a:t>
            </a:r>
            <a:r>
              <a:rPr>
                <a:latin typeface="Courier"/>
              </a:rPr>
              <a:t>&lt;img /&gt;</a:t>
            </a:r>
            <a:r>
              <a:rPr/>
              <a: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HTML Structure</a:t>
            </a:r>
          </a:p>
        </p:txBody>
      </p:sp>
      <p:sp>
        <p:nvSpPr>
          <p:cNvPr id="3" name="Content Placeholder 2"/>
          <p:cNvSpPr>
            <a:spLocks noGrp="1"/>
          </p:cNvSpPr>
          <p:nvPr>
            <p:ph idx="1"/>
          </p:nvPr>
        </p:nvSpPr>
        <p:spPr/>
        <p:txBody>
          <a:bodyPr/>
          <a:lstStyle/>
          <a:p>
            <a:pPr lvl="0" indent="0" marL="0">
              <a:buNone/>
            </a:pPr>
            <a:r>
              <a:rPr/>
              <a:t>HTML documents have a hierarchical structure, with elements nested within other elements. Only elements that are nested within the </a:t>
            </a:r>
            <a:r>
              <a:rPr>
                <a:latin typeface="Courier"/>
              </a:rPr>
              <a:t>&lt;body&gt;</a:t>
            </a:r>
            <a:r>
              <a:rPr/>
              <a:t> tag are visible on the webpage.</a:t>
            </a:r>
          </a:p>
          <a:p>
            <a:pPr lvl="0" indent="0">
              <a:buNone/>
            </a:pPr>
            <a:r>
              <a:rPr>
                <a:solidFill>
                  <a:srgbClr val="902000"/>
                </a:solidFill>
                <a:latin typeface="Courier"/>
              </a:rPr>
              <a:t>&lt;</a:t>
            </a:r>
            <a:r>
              <a:rPr b="1">
                <a:solidFill>
                  <a:srgbClr val="007020"/>
                </a:solidFill>
                <a:latin typeface="Courier"/>
              </a:rPr>
              <a:t>html</a:t>
            </a:r>
            <a:r>
              <a:rPr>
                <a:solidFill>
                  <a:srgbClr val="902000"/>
                </a:solidFill>
                <a:latin typeface="Courier"/>
              </a:rPr>
              <a:t>&gt;</a:t>
            </a:r>
            <a:br/>
            <a:r>
              <a:rPr>
                <a:solidFill>
                  <a:srgbClr val="902000"/>
                </a:solidFill>
                <a:latin typeface="Courier"/>
              </a:rPr>
              <a:t>&lt;</a:t>
            </a:r>
            <a:r>
              <a:rPr b="1">
                <a:solidFill>
                  <a:srgbClr val="007020"/>
                </a:solidFill>
                <a:latin typeface="Courier"/>
              </a:rPr>
              <a:t>head</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title</a:t>
            </a:r>
            <a:r>
              <a:rPr>
                <a:solidFill>
                  <a:srgbClr val="902000"/>
                </a:solidFill>
                <a:latin typeface="Courier"/>
              </a:rPr>
              <a:t>&gt;</a:t>
            </a:r>
            <a:r>
              <a:rPr>
                <a:latin typeface="Courier"/>
              </a:rPr>
              <a:t>Example Webpage</a:t>
            </a:r>
            <a:r>
              <a:rPr>
                <a:solidFill>
                  <a:srgbClr val="902000"/>
                </a:solidFill>
                <a:latin typeface="Courier"/>
              </a:rPr>
              <a:t>&lt;/</a:t>
            </a:r>
            <a:r>
              <a:rPr b="1">
                <a:solidFill>
                  <a:srgbClr val="007020"/>
                </a:solidFill>
                <a:latin typeface="Courier"/>
              </a:rPr>
              <a:t>title</a:t>
            </a:r>
            <a:r>
              <a:rPr>
                <a:solidFill>
                  <a:srgbClr val="902000"/>
                </a:solidFill>
                <a:latin typeface="Courier"/>
              </a:rPr>
              <a:t>&gt;</a:t>
            </a:r>
            <a:br/>
            <a:r>
              <a:rPr>
                <a:solidFill>
                  <a:srgbClr val="902000"/>
                </a:solidFill>
                <a:latin typeface="Courier"/>
              </a:rPr>
              <a:t>&lt;/</a:t>
            </a:r>
            <a:r>
              <a:rPr b="1">
                <a:solidFill>
                  <a:srgbClr val="007020"/>
                </a:solidFill>
                <a:latin typeface="Courier"/>
              </a:rPr>
              <a:t>head</a:t>
            </a:r>
            <a:r>
              <a:rPr>
                <a:solidFill>
                  <a:srgbClr val="902000"/>
                </a:solidFill>
                <a:latin typeface="Courier"/>
              </a:rPr>
              <a:t>&gt;</a:t>
            </a:r>
            <a:br/>
            <a:r>
              <a:rPr>
                <a:solidFill>
                  <a:srgbClr val="902000"/>
                </a:solidFill>
                <a:latin typeface="Courier"/>
              </a:rPr>
              <a:t>&lt;</a:t>
            </a:r>
            <a:r>
              <a:rPr b="1">
                <a:solidFill>
                  <a:srgbClr val="007020"/>
                </a:solidFill>
                <a:latin typeface="Courier"/>
              </a:rPr>
              <a:t>body</a:t>
            </a:r>
            <a:r>
              <a:rPr>
                <a:solidFill>
                  <a:srgbClr val="902000"/>
                </a:solidFill>
                <a:latin typeface="Courier"/>
              </a:rPr>
              <a:t>&gt;</a:t>
            </a:r>
            <a:r>
              <a:rPr>
                <a:latin typeface="Courier"/>
              </a:rPr>
              <a:t> ... </a:t>
            </a:r>
            <a:r>
              <a:rPr>
                <a:solidFill>
                  <a:srgbClr val="902000"/>
                </a:solidFill>
                <a:latin typeface="Courier"/>
              </a:rPr>
              <a:t>&lt;/</a:t>
            </a:r>
            <a:r>
              <a:rPr b="1">
                <a:solidFill>
                  <a:srgbClr val="007020"/>
                </a:solidFill>
                <a:latin typeface="Courier"/>
              </a:rPr>
              <a:t>body</a:t>
            </a:r>
            <a:r>
              <a:rPr>
                <a:solidFill>
                  <a:srgbClr val="902000"/>
                </a:solidFill>
                <a:latin typeface="Courier"/>
              </a:rPr>
              <a:t>&gt;</a:t>
            </a:r>
            <a:br/>
            <a:r>
              <a:rPr>
                <a:solidFill>
                  <a:srgbClr val="902000"/>
                </a:solidFill>
                <a:latin typeface="Courier"/>
              </a:rPr>
              <a:t>&lt;/</a:t>
            </a:r>
            <a:r>
              <a:rPr b="1">
                <a:solidFill>
                  <a:srgbClr val="007020"/>
                </a:solidFill>
                <a:latin typeface="Courier"/>
              </a:rPr>
              <a:t>html</a:t>
            </a:r>
            <a:r>
              <a:rPr>
                <a:solidFill>
                  <a:srgbClr val="902000"/>
                </a:solidFill>
                <a:latin typeface="Courier"/>
              </a:rPr>
              <a:t>&gt;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HTML Header</a:t>
            </a:r>
          </a:p>
        </p:txBody>
      </p:sp>
      <p:sp>
        <p:nvSpPr>
          <p:cNvPr id="3" name="Content Placeholder 2"/>
          <p:cNvSpPr>
            <a:spLocks noGrp="1"/>
          </p:cNvSpPr>
          <p:nvPr>
            <p:ph idx="1"/>
          </p:nvPr>
        </p:nvSpPr>
        <p:spPr/>
        <p:txBody>
          <a:bodyPr/>
          <a:lstStyle/>
          <a:p>
            <a:pPr lvl="0" indent="0" marL="0">
              <a:buNone/>
            </a:pPr>
            <a:r>
              <a:rPr/>
              <a:t>The </a:t>
            </a:r>
            <a:r>
              <a:rPr>
                <a:latin typeface="Courier"/>
              </a:rPr>
              <a:t>&lt;head&gt;</a:t>
            </a:r>
            <a:r>
              <a:rPr/>
              <a:t> element contains metadata about the document, such as the title and links to stylesheets. The content of the </a:t>
            </a:r>
            <a:r>
              <a:rPr>
                <a:latin typeface="Courier"/>
              </a:rPr>
              <a:t>&lt;head&gt;</a:t>
            </a:r>
            <a:r>
              <a:rPr/>
              <a:t> is not displayed on the webpage, but it provides important information about the document to browsers and search engines.</a:t>
            </a:r>
          </a:p>
          <a:p>
            <a:pPr lvl="0" indent="0">
              <a:buNone/>
            </a:pPr>
            <a:r>
              <a:rPr>
                <a:solidFill>
                  <a:srgbClr val="902000"/>
                </a:solidFill>
                <a:latin typeface="Courier"/>
              </a:rPr>
              <a:t>&lt;</a:t>
            </a:r>
            <a:r>
              <a:rPr b="1">
                <a:solidFill>
                  <a:srgbClr val="007020"/>
                </a:solidFill>
                <a:latin typeface="Courier"/>
              </a:rPr>
              <a:t>head</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title</a:t>
            </a:r>
            <a:r>
              <a:rPr>
                <a:solidFill>
                  <a:srgbClr val="902000"/>
                </a:solidFill>
                <a:latin typeface="Courier"/>
              </a:rPr>
              <a:t>&gt;</a:t>
            </a:r>
            <a:r>
              <a:rPr>
                <a:latin typeface="Courier"/>
              </a:rPr>
              <a:t>Example Webpage</a:t>
            </a:r>
            <a:r>
              <a:rPr>
                <a:solidFill>
                  <a:srgbClr val="902000"/>
                </a:solidFill>
                <a:latin typeface="Courier"/>
              </a:rPr>
              <a:t>&lt;/</a:t>
            </a:r>
            <a:r>
              <a:rPr b="1">
                <a:solidFill>
                  <a:srgbClr val="007020"/>
                </a:solidFill>
                <a:latin typeface="Courier"/>
              </a:rPr>
              <a:t>title</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link</a:t>
            </a:r>
            <a:r>
              <a:rPr>
                <a:solidFill>
                  <a:srgbClr val="007020"/>
                </a:solidFill>
                <a:latin typeface="Courier"/>
              </a:rPr>
              <a:t> rel</a:t>
            </a:r>
            <a:r>
              <a:rPr>
                <a:solidFill>
                  <a:srgbClr val="666666"/>
                </a:solidFill>
                <a:latin typeface="Courier"/>
              </a:rPr>
              <a:t>=</a:t>
            </a:r>
            <a:r>
              <a:rPr>
                <a:solidFill>
                  <a:srgbClr val="4070A0"/>
                </a:solidFill>
                <a:latin typeface="Courier"/>
              </a:rPr>
              <a:t>"stylesheet"</a:t>
            </a:r>
            <a:r>
              <a:rPr>
                <a:solidFill>
                  <a:srgbClr val="007020"/>
                </a:solidFill>
                <a:latin typeface="Courier"/>
              </a:rPr>
              <a:t> href</a:t>
            </a:r>
            <a:r>
              <a:rPr>
                <a:solidFill>
                  <a:srgbClr val="666666"/>
                </a:solidFill>
                <a:latin typeface="Courier"/>
              </a:rPr>
              <a:t>=</a:t>
            </a:r>
            <a:r>
              <a:rPr>
                <a:solidFill>
                  <a:srgbClr val="4070A0"/>
                </a:solidFill>
                <a:latin typeface="Courier"/>
              </a:rPr>
              <a:t>"styles.css"</a:t>
            </a:r>
            <a:r>
              <a:rPr>
                <a:solidFill>
                  <a:srgbClr val="902000"/>
                </a:solidFill>
                <a:latin typeface="Courier"/>
              </a:rPr>
              <a:t>&gt;</a:t>
            </a:r>
            <a:br/>
            <a:r>
              <a:rPr>
                <a:solidFill>
                  <a:srgbClr val="902000"/>
                </a:solidFill>
                <a:latin typeface="Courier"/>
              </a:rPr>
              <a:t>&lt;/</a:t>
            </a:r>
            <a:r>
              <a:rPr b="1">
                <a:solidFill>
                  <a:srgbClr val="007020"/>
                </a:solidFill>
                <a:latin typeface="Courier"/>
              </a:rPr>
              <a:t>head</a:t>
            </a:r>
            <a:r>
              <a:rPr>
                <a:solidFill>
                  <a:srgbClr val="902000"/>
                </a:solidFill>
                <a:latin typeface="Courier"/>
              </a:rPr>
              <a:t>&gt;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HTML Example</a:t>
            </a:r>
          </a:p>
        </p:txBody>
      </p:sp>
      <p:sp>
        <p:nvSpPr>
          <p:cNvPr id="3" name="Content Placeholder 2"/>
          <p:cNvSpPr>
            <a:spLocks noGrp="1"/>
          </p:cNvSpPr>
          <p:nvPr>
            <p:ph idx="1"/>
          </p:nvPr>
        </p:nvSpPr>
        <p:spPr/>
        <p:txBody>
          <a:bodyPr/>
          <a:lstStyle/>
          <a:p>
            <a:pPr lvl="0" indent="0">
              <a:buNone/>
            </a:pPr>
            <a:r>
              <a:rPr>
                <a:solidFill>
                  <a:srgbClr val="902000"/>
                </a:solidFill>
                <a:latin typeface="Courier"/>
              </a:rPr>
              <a:t>&lt;</a:t>
            </a:r>
            <a:r>
              <a:rPr b="1">
                <a:solidFill>
                  <a:srgbClr val="007020"/>
                </a:solidFill>
                <a:latin typeface="Courier"/>
              </a:rPr>
              <a:t>body</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h1</a:t>
            </a:r>
            <a:r>
              <a:rPr>
                <a:solidFill>
                  <a:srgbClr val="902000"/>
                </a:solidFill>
                <a:latin typeface="Courier"/>
              </a:rPr>
              <a:t>&gt;</a:t>
            </a:r>
            <a:r>
              <a:rPr>
                <a:latin typeface="Courier"/>
              </a:rPr>
              <a:t>Welcome to My Webpage</a:t>
            </a:r>
            <a:r>
              <a:rPr>
                <a:solidFill>
                  <a:srgbClr val="902000"/>
                </a:solidFill>
                <a:latin typeface="Courier"/>
              </a:rPr>
              <a:t>&lt;/</a:t>
            </a:r>
            <a:r>
              <a:rPr b="1">
                <a:solidFill>
                  <a:srgbClr val="007020"/>
                </a:solidFill>
                <a:latin typeface="Courier"/>
              </a:rPr>
              <a:t>h1</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p</a:t>
            </a:r>
            <a:r>
              <a:rPr>
                <a:solidFill>
                  <a:srgbClr val="902000"/>
                </a:solidFill>
                <a:latin typeface="Courier"/>
              </a:rPr>
              <a:t>&gt;</a:t>
            </a:r>
            <a:r>
              <a:rPr>
                <a:latin typeface="Courier"/>
              </a:rPr>
              <a:t>This is a paragraph of text on my webpage.</a:t>
            </a:r>
            <a:r>
              <a:rPr>
                <a:solidFill>
                  <a:srgbClr val="902000"/>
                </a:solidFill>
                <a:latin typeface="Courier"/>
              </a:rPr>
              <a:t>&lt;/</a:t>
            </a:r>
            <a:r>
              <a:rPr b="1">
                <a:solidFill>
                  <a:srgbClr val="007020"/>
                </a:solidFill>
                <a:latin typeface="Courier"/>
              </a:rPr>
              <a:t>p</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a</a:t>
            </a:r>
            <a:r>
              <a:rPr>
                <a:solidFill>
                  <a:srgbClr val="007020"/>
                </a:solidFill>
                <a:latin typeface="Courier"/>
              </a:rPr>
              <a:t> href</a:t>
            </a:r>
            <a:r>
              <a:rPr>
                <a:solidFill>
                  <a:srgbClr val="666666"/>
                </a:solidFill>
                <a:latin typeface="Courier"/>
              </a:rPr>
              <a:t>=</a:t>
            </a:r>
            <a:r>
              <a:rPr>
                <a:solidFill>
                  <a:srgbClr val="4070A0"/>
                </a:solidFill>
                <a:latin typeface="Courier"/>
              </a:rPr>
              <a:t>"https://www.example.com"</a:t>
            </a:r>
            <a:r>
              <a:rPr>
                <a:solidFill>
                  <a:srgbClr val="902000"/>
                </a:solidFill>
                <a:latin typeface="Courier"/>
              </a:rPr>
              <a:t>&gt;</a:t>
            </a:r>
            <a:r>
              <a:rPr>
                <a:latin typeface="Courier"/>
              </a:rPr>
              <a:t>Visit Example.com</a:t>
            </a:r>
            <a:r>
              <a:rPr>
                <a:solidFill>
                  <a:srgbClr val="902000"/>
                </a:solidFill>
                <a:latin typeface="Courier"/>
              </a:rPr>
              <a:t>&lt;/</a:t>
            </a:r>
            <a:r>
              <a:rPr b="1">
                <a:solidFill>
                  <a:srgbClr val="007020"/>
                </a:solidFill>
                <a:latin typeface="Courier"/>
              </a:rPr>
              <a:t>a</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img</a:t>
            </a:r>
            <a:r>
              <a:rPr>
                <a:solidFill>
                  <a:srgbClr val="007020"/>
                </a:solidFill>
                <a:latin typeface="Courier"/>
              </a:rPr>
              <a:t> src</a:t>
            </a:r>
            <a:r>
              <a:rPr>
                <a:solidFill>
                  <a:srgbClr val="666666"/>
                </a:solidFill>
                <a:latin typeface="Courier"/>
              </a:rPr>
              <a:t>=</a:t>
            </a:r>
            <a:r>
              <a:rPr>
                <a:solidFill>
                  <a:srgbClr val="4070A0"/>
                </a:solidFill>
                <a:latin typeface="Courier"/>
              </a:rPr>
              <a:t>"image.jpg"</a:t>
            </a:r>
            <a:r>
              <a:rPr>
                <a:solidFill>
                  <a:srgbClr val="007020"/>
                </a:solidFill>
                <a:latin typeface="Courier"/>
              </a:rPr>
              <a:t> alt</a:t>
            </a:r>
            <a:r>
              <a:rPr>
                <a:solidFill>
                  <a:srgbClr val="666666"/>
                </a:solidFill>
                <a:latin typeface="Courier"/>
              </a:rPr>
              <a:t>=</a:t>
            </a:r>
            <a:r>
              <a:rPr>
                <a:solidFill>
                  <a:srgbClr val="4070A0"/>
                </a:solidFill>
                <a:latin typeface="Courier"/>
              </a:rPr>
              <a:t>"Example Image"</a:t>
            </a:r>
            <a:r>
              <a:rPr>
                <a:solidFill>
                  <a:srgbClr val="902000"/>
                </a:solidFill>
                <a:latin typeface="Courier"/>
              </a:rPr>
              <a:t>&gt;</a:t>
            </a:r>
            <a:br/>
            <a:r>
              <a:rPr>
                <a:solidFill>
                  <a:srgbClr val="902000"/>
                </a:solidFill>
                <a:latin typeface="Courier"/>
              </a:rPr>
              <a:t>&lt;/</a:t>
            </a:r>
            <a:r>
              <a:rPr b="1">
                <a:solidFill>
                  <a:srgbClr val="007020"/>
                </a:solidFill>
                <a:latin typeface="Courier"/>
              </a:rPr>
              <a:t>body</a:t>
            </a:r>
            <a:r>
              <a:rPr>
                <a:solidFill>
                  <a:srgbClr val="902000"/>
                </a:solidFill>
                <a:latin typeface="Courier"/>
              </a:rPr>
              <a:t>&gt;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Common HTML tags</a:t>
            </a:r>
          </a:p>
        </p:txBody>
      </p:sp>
      <p:sp>
        <p:nvSpPr>
          <p:cNvPr id="3" name="Content Placeholder 2"/>
          <p:cNvSpPr>
            <a:spLocks noGrp="1"/>
          </p:cNvSpPr>
          <p:nvPr>
            <p:ph idx="1"/>
          </p:nvPr>
        </p:nvSpPr>
        <p:spPr/>
        <p:txBody>
          <a:bodyPr/>
          <a:lstStyle/>
          <a:p>
            <a:pPr lvl="0"/>
            <a:r>
              <a:rPr>
                <a:latin typeface="Courier"/>
              </a:rPr>
              <a:t>&lt;div&gt;</a:t>
            </a:r>
            <a:r>
              <a:rPr/>
              <a:t>: A container element used to group other elements together.</a:t>
            </a:r>
          </a:p>
          <a:p>
            <a:pPr lvl="0"/>
            <a:r>
              <a:rPr>
                <a:latin typeface="Courier"/>
              </a:rPr>
              <a:t>&lt;p&gt;</a:t>
            </a:r>
            <a:r>
              <a:rPr/>
              <a:t>: Represents a paragraph of text.</a:t>
            </a:r>
          </a:p>
          <a:p>
            <a:pPr lvl="0"/>
            <a:r>
              <a:rPr>
                <a:latin typeface="Courier"/>
              </a:rPr>
              <a:t>&lt;a&gt;</a:t>
            </a:r>
            <a:r>
              <a:rPr/>
              <a:t>: Represents a hyperlink to another webpage or resource.</a:t>
            </a:r>
          </a:p>
          <a:p>
            <a:pPr lvl="0"/>
            <a:r>
              <a:rPr>
                <a:latin typeface="Courier"/>
              </a:rPr>
              <a:t>&lt;img&gt;</a:t>
            </a:r>
            <a:r>
              <a:rPr/>
              <a:t>: Represents an image.</a:t>
            </a:r>
          </a:p>
          <a:p>
            <a:pPr lvl="0" indent="0" marL="0">
              <a:buNone/>
            </a:pPr>
            <a:r>
              <a:rPr/>
              <a:t>W3Schools has a comprehensive list of HTML tags: https://www.w3schools.com/tags/default.asp</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HTTP Requests</a:t>
            </a:r>
          </a:p>
        </p:txBody>
      </p:sp>
      <p:sp>
        <p:nvSpPr>
          <p:cNvPr id="3" name="Content Placeholder 2"/>
          <p:cNvSpPr>
            <a:spLocks noGrp="1"/>
          </p:cNvSpPr>
          <p:nvPr>
            <p:ph idx="1"/>
          </p:nvPr>
        </p:nvSpPr>
        <p:spPr/>
        <p:txBody>
          <a:bodyPr/>
          <a:lstStyle/>
          <a:p>
            <a:pPr lvl="0"/>
            <a:r>
              <a:rPr/>
              <a:t>HTTP (HyperText Transfer Protocol) is the protocol used for communication between a client (e.g., a web browser) and a server (e.g., a web server).</a:t>
            </a:r>
          </a:p>
          <a:p>
            <a:pPr lvl="0"/>
            <a:r>
              <a:rPr/>
              <a:t>When you enter a URL in your browser, it sends an HTTP request to the server hosting the webpage. The server processes the request and sends back an HTTP response, which contains the HTML content of the webpage.</a:t>
            </a:r>
          </a:p>
          <a:p>
            <a:pPr lvl="0"/>
            <a:r>
              <a:rPr/>
              <a:t>HTTP requests can be made using various methods, such as GET (to retrieve data), POST (to submit data), PUT (to update data), and DELETE (to delete data).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URL</a:t>
            </a:r>
          </a:p>
        </p:txBody>
      </p:sp>
      <p:sp>
        <p:nvSpPr>
          <p:cNvPr id="3" name="Content Placeholder 2"/>
          <p:cNvSpPr>
            <a:spLocks noGrp="1"/>
          </p:cNvSpPr>
          <p:nvPr>
            <p:ph idx="1"/>
          </p:nvPr>
        </p:nvSpPr>
        <p:spPr/>
        <p:txBody>
          <a:bodyPr/>
          <a:lstStyle/>
          <a:p>
            <a:pPr lvl="0"/>
            <a:r>
              <a:rPr/>
              <a:t>A URL (Uniform Resource Locator) is a reference to a web resource that specifies its location on a computer network and a mechanism for retrieving it.</a:t>
            </a:r>
          </a:p>
          <a:p>
            <a:pPr lvl="0"/>
            <a:r>
              <a:rPr/>
              <a:t>A URL typically consists of:</a:t>
            </a:r>
          </a:p>
          <a:p>
            <a:pPr lvl="1"/>
            <a:r>
              <a:rPr/>
              <a:t>protocol (e.g., http, https)</a:t>
            </a:r>
          </a:p>
          <a:p>
            <a:pPr lvl="1"/>
            <a:r>
              <a:rPr/>
              <a:t>domain name (e.g., www.example.com)</a:t>
            </a:r>
          </a:p>
          <a:p>
            <a:pPr lvl="1"/>
            <a:r>
              <a:rPr/>
              <a:t>path (e.g., /path/to/resource)</a:t>
            </a:r>
          </a:p>
          <a:p>
            <a:pPr lvl="1"/>
            <a:r>
              <a:rPr/>
              <a:t>subdomain (e.g., sub.example.com)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Requests Library</a:t>
            </a:r>
          </a:p>
        </p:txBody>
      </p:sp>
      <p:sp>
        <p:nvSpPr>
          <p:cNvPr id="3" name="Content Placeholder 2"/>
          <p:cNvSpPr>
            <a:spLocks noGrp="1"/>
          </p:cNvSpPr>
          <p:nvPr>
            <p:ph idx="1"/>
          </p:nvPr>
        </p:nvSpPr>
        <p:spPr/>
        <p:txBody>
          <a:bodyPr/>
          <a:lstStyle/>
          <a:p>
            <a:pPr lvl="0"/>
            <a:r>
              <a:rPr/>
              <a:t>The requests library is a popular Python library used for making HTTP requests. It allows you to send HTTP requests to a specified URL and receive a response from the server.</a:t>
            </a:r>
          </a:p>
          <a:p>
            <a:pPr lvl="0" indent="0">
              <a:buNone/>
            </a:pPr>
            <a:r>
              <a:rPr b="1">
                <a:solidFill>
                  <a:srgbClr val="008000"/>
                </a:solidFill>
                <a:latin typeface="Courier"/>
              </a:rPr>
              <a:t>import</a:t>
            </a:r>
            <a:r>
              <a:rPr>
                <a:latin typeface="Courier"/>
              </a:rPr>
              <a:t> requests</a:t>
            </a:r>
            <a:br/>
            <a:r>
              <a:rPr>
                <a:latin typeface="Courier"/>
              </a:rPr>
              <a:t>response </a:t>
            </a:r>
            <a:r>
              <a:rPr>
                <a:solidFill>
                  <a:srgbClr val="666666"/>
                </a:solidFill>
                <a:latin typeface="Courier"/>
              </a:rPr>
              <a:t>=</a:t>
            </a:r>
            <a:r>
              <a:rPr>
                <a:latin typeface="Courier"/>
              </a:rPr>
              <a:t> requests.get(</a:t>
            </a:r>
            <a:r>
              <a:rPr>
                <a:solidFill>
                  <a:srgbClr val="4070A0"/>
                </a:solidFill>
                <a:latin typeface="Courier"/>
              </a:rPr>
              <a:t>'https://www.example.com'</a:t>
            </a:r>
            <a:r>
              <a:rPr>
                <a:latin typeface="Courier"/>
              </a:rPr>
              <a:t>)</a:t>
            </a:r>
            <a:br/>
            <a:r>
              <a:rPr>
                <a:solidFill>
                  <a:srgbClr val="008000"/>
                </a:solidFill>
                <a:latin typeface="Courier"/>
              </a:rPr>
              <a:t>print</a:t>
            </a:r>
            <a:r>
              <a:rPr>
                <a:latin typeface="Courier"/>
              </a:rPr>
              <a:t>(response.status_code)  </a:t>
            </a:r>
            <a:r>
              <a:rPr i="1">
                <a:solidFill>
                  <a:srgbClr val="60A0B0"/>
                </a:solidFill>
                <a:latin typeface="Courier"/>
              </a:rPr>
              <a:t># Print the status code of the response</a:t>
            </a:r>
            <a:br/>
            <a:r>
              <a:rPr>
                <a:solidFill>
                  <a:srgbClr val="008000"/>
                </a:solidFill>
                <a:latin typeface="Courier"/>
              </a:rPr>
              <a:t>print</a:t>
            </a:r>
            <a:r>
              <a:rPr>
                <a:latin typeface="Courier"/>
              </a:rPr>
              <a:t>(response.text)  </a:t>
            </a:r>
            <a:r>
              <a:rPr i="1">
                <a:solidFill>
                  <a:srgbClr val="60A0B0"/>
                </a:solidFill>
                <a:latin typeface="Courier"/>
              </a:rPr>
              <a:t># Print the content of the response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Steps with Scraping</a:t>
            </a:r>
          </a:p>
        </p:txBody>
      </p:sp>
      <p:sp>
        <p:nvSpPr>
          <p:cNvPr id="3" name="Content Placeholder 2"/>
          <p:cNvSpPr>
            <a:spLocks noGrp="1"/>
          </p:cNvSpPr>
          <p:nvPr>
            <p:ph idx="1"/>
          </p:nvPr>
        </p:nvSpPr>
        <p:spPr/>
        <p:txBody>
          <a:bodyPr/>
          <a:lstStyle/>
          <a:p>
            <a:pPr lvl="0"/>
            <a:r>
              <a:rPr/>
              <a:t>Once you have the HTML content of a webpage, you can use parsing techniques to extract specific information from it. This is where libraries like BeautifulSoup come in handy.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Parsing</a:t>
            </a:r>
          </a:p>
        </p:txBody>
      </p:sp>
      <p:sp>
        <p:nvSpPr>
          <p:cNvPr id="3" name="Content Placeholder 2"/>
          <p:cNvSpPr>
            <a:spLocks noGrp="1"/>
          </p:cNvSpPr>
          <p:nvPr>
            <p:ph idx="1"/>
          </p:nvPr>
        </p:nvSpPr>
        <p:spPr/>
        <p:txBody>
          <a:bodyPr/>
          <a:lstStyle/>
          <a:p>
            <a:pPr lvl="0"/>
            <a:r>
              <a:rPr/>
              <a:t>In the context of web scraping, parsing typically refers to the process of analyzing the HTML content of a webpage and extracting specific information from it.</a:t>
            </a:r>
          </a:p>
          <a:p>
            <a:pPr lvl="0"/>
            <a:r>
              <a:rPr/>
              <a:t>Libraries like BeautifulSoup allow you to parse HTML documents and navigate the structure of the webpage to extract data.</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BeautifulSoup</a:t>
            </a:r>
          </a:p>
        </p:txBody>
      </p:sp>
      <p:sp>
        <p:nvSpPr>
          <p:cNvPr id="3" name="Content Placeholder 2"/>
          <p:cNvSpPr>
            <a:spLocks noGrp="1"/>
          </p:cNvSpPr>
          <p:nvPr>
            <p:ph idx="1"/>
          </p:nvPr>
        </p:nvSpPr>
        <p:spPr/>
        <p:txBody>
          <a:bodyPr/>
          <a:lstStyle/>
          <a:p>
            <a:pPr lvl="0"/>
            <a:r>
              <a:rPr/>
              <a:t>BeautifulSoup is a Python library used for parsing HTML and XML documents. It provides a simple way to navigate the structure of a webpage and extract specific elements.</a:t>
            </a:r>
          </a:p>
          <a:p>
            <a:pPr lvl="0"/>
            <a:r>
              <a:rPr/>
              <a:t>You can use BeautifulSoup to find elements by their tag name, class, id, or other attributes.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of using BeautifulSoup to extract all the links from a webpage:</a:t>
            </a:r>
          </a:p>
        </p:txBody>
      </p:sp>
      <p:sp>
        <p:nvSpPr>
          <p:cNvPr id="3" name="Content Placeholder 2"/>
          <p:cNvSpPr>
            <a:spLocks noGrp="1"/>
          </p:cNvSpPr>
          <p:nvPr>
            <p:ph idx="1"/>
          </p:nvPr>
        </p:nvSpPr>
        <p:spPr/>
        <p:txBody>
          <a:bodyPr/>
          <a:lstStyle/>
          <a:p>
            <a:pPr lvl="0" indent="0">
              <a:buNone/>
            </a:pPr>
            <a:r>
              <a:rPr b="1">
                <a:solidFill>
                  <a:srgbClr val="008000"/>
                </a:solidFill>
                <a:latin typeface="Courier"/>
              </a:rPr>
              <a:t>import</a:t>
            </a:r>
            <a:r>
              <a:rPr>
                <a:latin typeface="Courier"/>
              </a:rPr>
              <a:t> requests</a:t>
            </a:r>
            <a:br/>
            <a:r>
              <a:rPr b="1">
                <a:solidFill>
                  <a:srgbClr val="008000"/>
                </a:solidFill>
                <a:latin typeface="Courier"/>
              </a:rPr>
              <a:t>from</a:t>
            </a:r>
            <a:r>
              <a:rPr>
                <a:latin typeface="Courier"/>
              </a:rPr>
              <a:t> bs4 </a:t>
            </a:r>
            <a:r>
              <a:rPr b="1">
                <a:solidFill>
                  <a:srgbClr val="008000"/>
                </a:solidFill>
                <a:latin typeface="Courier"/>
              </a:rPr>
              <a:t>import</a:t>
            </a:r>
            <a:r>
              <a:rPr>
                <a:latin typeface="Courier"/>
              </a:rPr>
              <a:t> BeautifulSoup</a:t>
            </a:r>
            <a:br/>
            <a:r>
              <a:rPr>
                <a:latin typeface="Courier"/>
              </a:rPr>
              <a:t>url </a:t>
            </a:r>
            <a:r>
              <a:rPr>
                <a:solidFill>
                  <a:srgbClr val="666666"/>
                </a:solidFill>
                <a:latin typeface="Courier"/>
              </a:rPr>
              <a:t>=</a:t>
            </a:r>
            <a:r>
              <a:rPr>
                <a:latin typeface="Courier"/>
              </a:rPr>
              <a:t> </a:t>
            </a:r>
            <a:r>
              <a:rPr>
                <a:solidFill>
                  <a:srgbClr val="4070A0"/>
                </a:solidFill>
                <a:latin typeface="Courier"/>
              </a:rPr>
              <a:t>'https://www.example.com'</a:t>
            </a:r>
            <a:br/>
            <a:r>
              <a:rPr>
                <a:latin typeface="Courier"/>
              </a:rPr>
              <a:t>response </a:t>
            </a:r>
            <a:r>
              <a:rPr>
                <a:solidFill>
                  <a:srgbClr val="666666"/>
                </a:solidFill>
                <a:latin typeface="Courier"/>
              </a:rPr>
              <a:t>=</a:t>
            </a:r>
            <a:r>
              <a:rPr>
                <a:latin typeface="Courier"/>
              </a:rPr>
              <a:t> requests.get(url)</a:t>
            </a:r>
            <a:br/>
            <a:r>
              <a:rPr>
                <a:latin typeface="Courier"/>
              </a:rPr>
              <a:t>soup </a:t>
            </a:r>
            <a:r>
              <a:rPr>
                <a:solidFill>
                  <a:srgbClr val="666666"/>
                </a:solidFill>
                <a:latin typeface="Courier"/>
              </a:rPr>
              <a:t>=</a:t>
            </a:r>
            <a:r>
              <a:rPr>
                <a:latin typeface="Courier"/>
              </a:rPr>
              <a:t> BeautifulSoup(response.text, </a:t>
            </a:r>
            <a:r>
              <a:rPr>
                <a:solidFill>
                  <a:srgbClr val="4070A0"/>
                </a:solidFill>
                <a:latin typeface="Courier"/>
              </a:rPr>
              <a:t>'html.parser'</a:t>
            </a:r>
            <a:r>
              <a:rPr>
                <a:latin typeface="Courier"/>
              </a:rPr>
              <a:t>)</a:t>
            </a:r>
            <a:br/>
            <a:r>
              <a:rPr>
                <a:latin typeface="Courier"/>
              </a:rPr>
              <a:t>links </a:t>
            </a:r>
            <a:r>
              <a:rPr>
                <a:solidFill>
                  <a:srgbClr val="666666"/>
                </a:solidFill>
                <a:latin typeface="Courier"/>
              </a:rPr>
              <a:t>=</a:t>
            </a:r>
            <a:r>
              <a:rPr>
                <a:latin typeface="Courier"/>
              </a:rPr>
              <a:t> soup.find_all(</a:t>
            </a:r>
            <a:r>
              <a:rPr>
                <a:solidFill>
                  <a:srgbClr val="4070A0"/>
                </a:solidFill>
                <a:latin typeface="Courier"/>
              </a:rPr>
              <a:t>'a'</a:t>
            </a:r>
            <a:r>
              <a:rPr>
                <a:latin typeface="Courier"/>
              </a:rPr>
              <a:t>)</a:t>
            </a:r>
            <a:br/>
            <a:r>
              <a:rPr b="1">
                <a:solidFill>
                  <a:srgbClr val="007020"/>
                </a:solidFill>
                <a:latin typeface="Courier"/>
              </a:rPr>
              <a:t>for</a:t>
            </a:r>
            <a:r>
              <a:rPr>
                <a:latin typeface="Courier"/>
              </a:rPr>
              <a:t> link </a:t>
            </a:r>
            <a:r>
              <a:rPr b="1">
                <a:solidFill>
                  <a:srgbClr val="007020"/>
                </a:solidFill>
                <a:latin typeface="Courier"/>
              </a:rPr>
              <a:t>in</a:t>
            </a:r>
            <a:r>
              <a:rPr>
                <a:latin typeface="Courier"/>
              </a:rPr>
              <a:t> links:</a:t>
            </a:r>
            <a:br/>
            <a:r>
              <a:rPr>
                <a:latin typeface="Courier"/>
              </a:rPr>
              <a:t>    </a:t>
            </a:r>
            <a:r>
              <a:rPr>
                <a:solidFill>
                  <a:srgbClr val="008000"/>
                </a:solidFill>
                <a:latin typeface="Courier"/>
              </a:rPr>
              <a:t>print</a:t>
            </a:r>
            <a:r>
              <a:rPr>
                <a:latin typeface="Courier"/>
              </a:rPr>
              <a:t>(link.get(</a:t>
            </a:r>
            <a:r>
              <a:rPr>
                <a:solidFill>
                  <a:srgbClr val="4070A0"/>
                </a:solidFill>
                <a:latin typeface="Courier"/>
              </a:rPr>
              <a:t>'href'</a:t>
            </a:r>
            <a:r>
              <a:rPr>
                <a:latin typeface="Courier"/>
              </a:rPr>
              <a: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API: Application Programming Interface</a:t>
            </a:r>
          </a:p>
        </p:txBody>
      </p:sp>
      <p:sp>
        <p:nvSpPr>
          <p:cNvPr id="3" name="Content Placeholder 2"/>
          <p:cNvSpPr>
            <a:spLocks noGrp="1"/>
          </p:cNvSpPr>
          <p:nvPr>
            <p:ph idx="1"/>
          </p:nvPr>
        </p:nvSpPr>
        <p:spPr/>
        <p:txBody>
          <a:bodyPr/>
          <a:lstStyle/>
          <a:p>
            <a:pPr lvl="0"/>
            <a:r>
              <a:rPr/>
              <a:t>Server-defined rules and protocols to transmit data between client and server</a:t>
            </a:r>
          </a:p>
          <a:p>
            <a:pPr lvl="0"/>
            <a:r>
              <a:rPr/>
              <a:t>Allows clients (developers, researchers, consumers) to access data in a structured format (e.g., JSON or XML)</a:t>
            </a:r>
          </a:p>
          <a:p>
            <a:pPr lvl="0"/>
            <a:r>
              <a:rPr/>
              <a:t>Easier to work with than parsing HTML</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RESTful APIs (Representational State Transfer)</a:t>
            </a:r>
          </a:p>
        </p:txBody>
      </p:sp>
      <p:sp>
        <p:nvSpPr>
          <p:cNvPr id="3" name="Content Placeholder 2"/>
          <p:cNvSpPr>
            <a:spLocks noGrp="1"/>
          </p:cNvSpPr>
          <p:nvPr>
            <p:ph idx="1"/>
          </p:nvPr>
        </p:nvSpPr>
        <p:spPr/>
        <p:txBody>
          <a:bodyPr/>
          <a:lstStyle/>
          <a:p>
            <a:pPr lvl="0"/>
            <a:r>
              <a:rPr/>
              <a:t>Common API architecture for standard HTTP methods and principles using URL endpoints:</a:t>
            </a:r>
          </a:p>
          <a:p>
            <a:pPr lvl="1"/>
            <a:r>
              <a:rPr/>
              <a:t>GET: Retrieve data from the server</a:t>
            </a:r>
          </a:p>
          <a:p>
            <a:pPr lvl="1"/>
            <a:r>
              <a:rPr/>
              <a:t>POST: Send data to the server to create a new resource</a:t>
            </a:r>
          </a:p>
          <a:p>
            <a:pPr lvl="1"/>
            <a:r>
              <a:rPr/>
              <a:t>PUT: Update an existing resource on the server</a:t>
            </a:r>
          </a:p>
          <a:p>
            <a:pPr lvl="1"/>
            <a:r>
              <a:rPr/>
              <a:t>DELETE: Remove a resource from the server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Common RESTful syntax</a:t>
            </a:r>
          </a:p>
        </p:txBody>
      </p:sp>
      <p:sp>
        <p:nvSpPr>
          <p:cNvPr id="3" name="Content Placeholder 2"/>
          <p:cNvSpPr>
            <a:spLocks noGrp="1"/>
          </p:cNvSpPr>
          <p:nvPr>
            <p:ph idx="1"/>
          </p:nvPr>
        </p:nvSpPr>
        <p:spPr/>
        <p:txBody>
          <a:bodyPr/>
          <a:lstStyle/>
          <a:p>
            <a:pPr lvl="0" indent="0" marL="0">
              <a:buNone/>
            </a:pPr>
            <a:r>
              <a:rPr/>
              <a:t>Endpoints are URLs defined by the API that allow clients to access specific resources or perform specific actions</a:t>
            </a:r>
          </a:p>
          <a:p>
            <a:pPr lvl="0" indent="0" marL="0">
              <a:buNone/>
            </a:pPr>
            <a:r>
              <a:rPr>
                <a:latin typeface="Courier"/>
              </a:rPr>
              <a:t>https://api.example.com/v1/collection/{id}?query=parameter</a:t>
            </a:r>
          </a:p>
          <a:p>
            <a:pPr lvl="0"/>
            <a:r>
              <a:rPr>
                <a:latin typeface="Courier"/>
              </a:rPr>
              <a:t>https://api.example.com/v1/</a:t>
            </a:r>
            <a:r>
              <a:rPr/>
              <a:t> </a:t>
            </a:r>
            <a:r>
              <a:rPr b="1"/>
              <a:t>base URL</a:t>
            </a:r>
          </a:p>
          <a:p>
            <a:pPr lvl="0"/>
            <a:r>
              <a:rPr>
                <a:latin typeface="Courier"/>
              </a:rPr>
              <a:t>collection</a:t>
            </a:r>
            <a:r>
              <a:rPr/>
              <a:t> </a:t>
            </a:r>
            <a:r>
              <a:rPr b="1"/>
              <a:t>resource collection</a:t>
            </a:r>
            <a:r>
              <a:rPr/>
              <a:t> (e.g. </a:t>
            </a:r>
            <a:r>
              <a:rPr>
                <a:latin typeface="Courier"/>
              </a:rPr>
              <a:t>users</a:t>
            </a:r>
            <a:r>
              <a:rPr/>
              <a:t>, </a:t>
            </a:r>
            <a:r>
              <a:rPr>
                <a:latin typeface="Courier"/>
              </a:rPr>
              <a:t>events</a:t>
            </a:r>
            <a:r>
              <a:rPr/>
              <a:t> etc)</a:t>
            </a:r>
          </a:p>
          <a:p>
            <a:pPr lvl="0"/>
            <a:r>
              <a:rPr>
                <a:latin typeface="Courier"/>
              </a:rPr>
              <a:t>{id}</a:t>
            </a:r>
            <a:r>
              <a:rPr/>
              <a:t> </a:t>
            </a:r>
            <a:r>
              <a:rPr b="1"/>
              <a:t>resource identifier</a:t>
            </a:r>
            <a:r>
              <a:rPr/>
              <a:t> (optional)</a:t>
            </a:r>
          </a:p>
          <a:p>
            <a:pPr lvl="0"/>
            <a:r>
              <a:rPr>
                <a:latin typeface="Courier"/>
              </a:rPr>
              <a:t>?query=parameter</a:t>
            </a:r>
            <a:r>
              <a:rPr/>
              <a:t> </a:t>
            </a:r>
            <a:r>
              <a:rPr b="1"/>
              <a:t>filter/sort/modify</a:t>
            </a:r>
            <a:r>
              <a:rPr/>
              <a:t> (optional)</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API Endpoint Routing</a:t>
            </a:r>
          </a:p>
        </p:txBody>
      </p:sp>
      <p:sp>
        <p:nvSpPr>
          <p:cNvPr id="3" name="Content Placeholder 2"/>
          <p:cNvSpPr>
            <a:spLocks noGrp="1"/>
          </p:cNvSpPr>
          <p:nvPr>
            <p:ph idx="1"/>
          </p:nvPr>
        </p:nvSpPr>
        <p:spPr/>
        <p:txBody>
          <a:bodyPr/>
          <a:lstStyle/>
          <a:p>
            <a:pPr lvl="0" indent="0" marL="0">
              <a:buNone/>
            </a:pPr>
            <a:r>
              <a:rPr/>
              <a:t>The URL routing maps to specific:</a:t>
            </a:r>
          </a:p>
          <a:p>
            <a:pPr lvl="0"/>
            <a:r>
              <a:rPr b="1"/>
              <a:t>resource</a:t>
            </a:r>
            <a:r>
              <a:rPr/>
              <a:t> or collection of resources</a:t>
            </a:r>
          </a:p>
          <a:p>
            <a:pPr lvl="0"/>
            <a:r>
              <a:rPr/>
              <a:t>HTTP </a:t>
            </a:r>
            <a:r>
              <a:rPr b="1"/>
              <a:t>methods</a:t>
            </a:r>
            <a:r>
              <a:rPr/>
              <a:t> (GET, POST, PUT, DELETE)</a:t>
            </a:r>
          </a:p>
          <a:p>
            <a:pPr lvl="0"/>
            <a:r>
              <a:rPr/>
              <a:t>client-defined </a:t>
            </a:r>
            <a:r>
              <a:rPr b="1"/>
              <a:t>parameters</a:t>
            </a:r>
            <a:r>
              <a:rPr/>
              <a:t> to filter or modify the request</a:t>
            </a:r>
          </a:p>
          <a:p>
            <a:pPr lvl="0"/>
            <a:r>
              <a:rPr b="1"/>
              <a:t>format</a:t>
            </a:r>
            <a:r>
              <a:rPr/>
              <a:t> of the response (e.g., JSON, XML)</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 Resource Example: By id</a:t>
            </a:r>
          </a:p>
        </p:txBody>
      </p:sp>
      <p:sp>
        <p:nvSpPr>
          <p:cNvPr id="3" name="Content Placeholder 2"/>
          <p:cNvSpPr>
            <a:spLocks noGrp="1"/>
          </p:cNvSpPr>
          <p:nvPr>
            <p:ph idx="1"/>
          </p:nvPr>
        </p:nvSpPr>
        <p:spPr/>
        <p:txBody>
          <a:bodyPr/>
          <a:lstStyle/>
          <a:p>
            <a:pPr lvl="0" indent="0" marL="0">
              <a:buNone/>
            </a:pPr>
            <a:r>
              <a:rPr>
                <a:latin typeface="Courier"/>
              </a:rPr>
              <a:t>https://ecocrisis.net/eventinfo/public/event/99</a:t>
            </a:r>
          </a:p>
          <a:p>
            <a:pPr lvl="0"/>
            <a:r>
              <a:rPr/>
              <a:t>Base URL: </a:t>
            </a:r>
            <a:r>
              <a:rPr>
                <a:latin typeface="Courier"/>
              </a:rPr>
              <a:t>https://ecocrisis.net/eventinfo/</a:t>
            </a:r>
          </a:p>
          <a:p>
            <a:pPr lvl="0"/>
            <a:r>
              <a:rPr/>
              <a:t>Resource class: </a:t>
            </a:r>
            <a:r>
              <a:rPr>
                <a:latin typeface="Courier"/>
              </a:rPr>
              <a:t>public/</a:t>
            </a:r>
          </a:p>
          <a:p>
            <a:pPr lvl="0"/>
            <a:r>
              <a:rPr/>
              <a:t>Resource: </a:t>
            </a:r>
            <a:r>
              <a:rPr>
                <a:latin typeface="Courier"/>
              </a:rPr>
              <a:t>event/{id}</a:t>
            </a:r>
            <a:r>
              <a:rPr/>
              <a:t> –&gt; resource ID to retrieve</a:t>
            </a:r>
          </a:p>
          <a:p>
            <a:pPr lvl="0" indent="0" marL="0">
              <a:buNone/>
            </a:pPr>
            <a:r>
              <a:rPr/>
              <a:t>ecocrisis.net API documentation: </a:t>
            </a:r>
            <a:r>
              <a:rPr>
                <a:hlinkClick r:id="rId3"/>
              </a:rPr>
              <a:t>https://github.com/bds134/hist501d-coursework-template/blob/main/ref-guides/MINI_PUBLIC_API_GUIDE.md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Query Parameter Example</a:t>
            </a:r>
          </a:p>
        </p:txBody>
      </p:sp>
      <p:sp>
        <p:nvSpPr>
          <p:cNvPr id="3" name="Content Placeholder 2"/>
          <p:cNvSpPr>
            <a:spLocks noGrp="1"/>
          </p:cNvSpPr>
          <p:nvPr>
            <p:ph idx="1"/>
          </p:nvPr>
        </p:nvSpPr>
        <p:spPr/>
        <p:txBody>
          <a:bodyPr/>
          <a:lstStyle/>
          <a:p>
            <a:pPr lvl="0" indent="0" marL="0">
              <a:buNone/>
            </a:pPr>
            <a:r>
              <a:rPr>
                <a:latin typeface="Courier"/>
              </a:rPr>
              <a:t>https://ecocrisis.net/eventinfo/public/events/search?startYear=1700&amp;endYear=1820&amp;state=Jalisco&amp;domainId=3</a:t>
            </a:r>
          </a:p>
          <a:p>
            <a:pPr lvl="0"/>
            <a:r>
              <a:rPr/>
              <a:t>Base URL: </a:t>
            </a:r>
            <a:r>
              <a:rPr>
                <a:latin typeface="Courier"/>
              </a:rPr>
              <a:t>https://ecocrisis.net/eventinfo</a:t>
            </a:r>
          </a:p>
          <a:p>
            <a:pPr lvl="0"/>
            <a:r>
              <a:rPr/>
              <a:t>Resource class: </a:t>
            </a:r>
            <a:r>
              <a:rPr>
                <a:latin typeface="Courier"/>
              </a:rPr>
              <a:t>public/</a:t>
            </a:r>
          </a:p>
          <a:p>
            <a:pPr lvl="0"/>
            <a:r>
              <a:rPr/>
              <a:t>Resource: </a:t>
            </a:r>
            <a:r>
              <a:rPr>
                <a:latin typeface="Courier"/>
              </a:rPr>
              <a:t>events/search</a:t>
            </a:r>
          </a:p>
          <a:p>
            <a:pPr lvl="0"/>
            <a:r>
              <a:rPr/>
              <a:t>Query parameters: </a:t>
            </a:r>
            <a:r>
              <a:rPr>
                <a:latin typeface="Courier"/>
              </a:rPr>
              <a:t>?startYear=1700</a:t>
            </a:r>
            <a:r>
              <a:rPr/>
              <a:t>, </a:t>
            </a:r>
            <a:r>
              <a:rPr>
                <a:latin typeface="Courier"/>
              </a:rPr>
              <a:t>&amp;endYear=1820</a:t>
            </a:r>
            <a:r>
              <a:rPr/>
              <a:t>, </a:t>
            </a:r>
            <a:r>
              <a:rPr>
                <a:latin typeface="Courier"/>
              </a:rPr>
              <a:t>&amp;state=Jalisco</a:t>
            </a:r>
            <a:r>
              <a:rPr/>
              <a:t>, </a:t>
            </a:r>
            <a:r>
              <a:rPr>
                <a:latin typeface="Courier"/>
              </a:rPr>
              <a:t>&amp;domainId=3</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Client Request Content</a:t>
            </a:r>
          </a:p>
        </p:txBody>
      </p:sp>
      <p:sp>
        <p:nvSpPr>
          <p:cNvPr id="3" name="Content Placeholder 2"/>
          <p:cNvSpPr>
            <a:spLocks noGrp="1"/>
          </p:cNvSpPr>
          <p:nvPr>
            <p:ph idx="1"/>
          </p:nvPr>
        </p:nvSpPr>
        <p:spPr/>
        <p:txBody>
          <a:bodyPr/>
          <a:lstStyle/>
          <a:p>
            <a:pPr lvl="0" indent="0" marL="0">
              <a:buNone/>
            </a:pPr>
            <a:r>
              <a:rPr/>
              <a:t>POST /api/items HTTP/1.1</a:t>
            </a:r>
            <a:br/>
            <a:r>
              <a:rPr/>
              <a:t>Host: example.com</a:t>
            </a:r>
            <a:br/>
            <a:r>
              <a:rPr/>
              <a:t>Content-Type: application/json</a:t>
            </a:r>
            <a:br/>
            <a:r>
              <a:rPr/>
              <a:t>Authorization: Bearer </a:t>
            </a:r>
          </a:p>
          <a:p>
            <a:pPr lvl="0" indent="0">
              <a:buNone/>
            </a:pPr>
            <a:r>
              <a:rPr>
                <a:solidFill>
                  <a:srgbClr val="06287E"/>
                </a:solidFill>
                <a:latin typeface="Courier"/>
              </a:rPr>
              <a:t>{</a:t>
            </a:r>
            <a:br/>
            <a:r>
              <a:rPr>
                <a:latin typeface="Courier"/>
              </a:rPr>
              <a:t>  </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"Book"</a:t>
            </a:r>
            <a:r>
              <a:rPr>
                <a:solidFill>
                  <a:srgbClr val="06287E"/>
                </a:solidFill>
                <a:latin typeface="Courier"/>
              </a:rPr>
              <a:t>,</a:t>
            </a:r>
            <a:br/>
            <a:r>
              <a:rPr>
                <a:latin typeface="Courier"/>
              </a:rPr>
              <a:t>  </a:t>
            </a:r>
            <a:r>
              <a:rPr>
                <a:solidFill>
                  <a:srgbClr val="902000"/>
                </a:solidFill>
                <a:latin typeface="Courier"/>
              </a:rPr>
              <a:t>"name"</a:t>
            </a:r>
            <a:r>
              <a:rPr>
                <a:solidFill>
                  <a:srgbClr val="06287E"/>
                </a:solidFill>
                <a:latin typeface="Courier"/>
              </a:rPr>
              <a:t>:</a:t>
            </a:r>
            <a:r>
              <a:rPr>
                <a:latin typeface="Courier"/>
              </a:rPr>
              <a:t> </a:t>
            </a:r>
            <a:r>
              <a:rPr>
                <a:solidFill>
                  <a:srgbClr val="4070A0"/>
                </a:solidFill>
                <a:latin typeface="Courier"/>
              </a:rPr>
              <a:t>"The Great Gatsby"</a:t>
            </a:r>
            <a:r>
              <a:rPr>
                <a:solidFill>
                  <a:srgbClr val="06287E"/>
                </a:solidFill>
                <a:latin typeface="Courier"/>
              </a:rPr>
              <a:t>,</a:t>
            </a:r>
            <a:br/>
            <a:r>
              <a:rPr>
                <a:latin typeface="Courier"/>
              </a:rPr>
              <a:t>  </a:t>
            </a:r>
            <a:r>
              <a:rPr>
                <a:solidFill>
                  <a:srgbClr val="902000"/>
                </a:solidFill>
                <a:latin typeface="Courier"/>
              </a:rPr>
              <a:t>"price"</a:t>
            </a:r>
            <a:r>
              <a:rPr>
                <a:solidFill>
                  <a:srgbClr val="06287E"/>
                </a:solidFill>
                <a:latin typeface="Courier"/>
              </a:rPr>
              <a:t>:</a:t>
            </a:r>
            <a:r>
              <a:rPr>
                <a:latin typeface="Courier"/>
              </a:rPr>
              <a:t> </a:t>
            </a:r>
            <a:r>
              <a:rPr>
                <a:solidFill>
                  <a:srgbClr val="40A070"/>
                </a:solidFill>
                <a:latin typeface="Courier"/>
              </a:rPr>
              <a:t>12.99</a:t>
            </a:r>
            <a:br/>
            <a:r>
              <a:rPr>
                <a:solidFill>
                  <a:srgbClr val="06287E"/>
                </a:solidFill>
                <a:latin typeface="Courie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Making API Requests</a:t>
            </a:r>
          </a:p>
        </p:txBody>
      </p:sp>
      <p:sp>
        <p:nvSpPr>
          <p:cNvPr id="3" name="Content Placeholder 2"/>
          <p:cNvSpPr>
            <a:spLocks noGrp="1"/>
          </p:cNvSpPr>
          <p:nvPr>
            <p:ph idx="1"/>
          </p:nvPr>
        </p:nvSpPr>
        <p:spPr/>
        <p:txBody>
          <a:bodyPr/>
          <a:lstStyle/>
          <a:p>
            <a:pPr lvl="0"/>
            <a:r>
              <a:rPr b="1"/>
              <a:t>Web Browser</a:t>
            </a:r>
            <a:r>
              <a:rPr/>
              <a:t>: Basic tool to test GET requests</a:t>
            </a:r>
          </a:p>
          <a:p>
            <a:pPr lvl="0"/>
            <a:r>
              <a:rPr b="1"/>
              <a:t>Curl</a:t>
            </a:r>
            <a:r>
              <a:rPr/>
              <a:t>: Popular CLI tool to test APIs</a:t>
            </a:r>
          </a:p>
          <a:p>
            <a:pPr lvl="0"/>
            <a:r>
              <a:rPr b="1"/>
              <a:t>Postman</a:t>
            </a:r>
            <a:r>
              <a:rPr/>
              <a:t>: Popular GUI tool to test APIs</a:t>
            </a:r>
          </a:p>
          <a:p>
            <a:pPr lvl="0"/>
            <a:r>
              <a:rPr b="1"/>
              <a:t>Python</a:t>
            </a:r>
            <a:r>
              <a:rPr/>
              <a:t>: Use </a:t>
            </a:r>
            <a:r>
              <a:rPr>
                <a:latin typeface="Courier"/>
              </a:rPr>
              <a:t>requests</a:t>
            </a:r>
            <a:r>
              <a:rPr/>
              <a:t> library to interact with endpoints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Browser Example</a:t>
            </a:r>
          </a:p>
        </p:txBody>
      </p:sp>
      <p:sp>
        <p:nvSpPr>
          <p:cNvPr id="3" name="Content Placeholder 2"/>
          <p:cNvSpPr>
            <a:spLocks noGrp="1"/>
          </p:cNvSpPr>
          <p:nvPr>
            <p:ph idx="1"/>
          </p:nvPr>
        </p:nvSpPr>
        <p:spPr/>
        <p:txBody>
          <a:bodyPr/>
          <a:lstStyle/>
          <a:p>
            <a:pPr lvl="0" indent="0" marL="0">
              <a:buNone/>
            </a:pPr>
            <a:r>
              <a:rPr/>
              <a:t>Try it with your browser!</a:t>
            </a:r>
          </a:p>
          <a:p>
            <a:pPr lvl="0" indent="0">
              <a:buNone/>
            </a:pPr>
            <a:r>
              <a:rPr>
                <a:latin typeface="Courier"/>
              </a:rPr>
              <a:t>https://ecocrisis.net/eventinfo/public/event/99</a:t>
            </a:r>
          </a:p>
          <a:p>
            <a:pPr lvl="0" indent="0" marL="0">
              <a:buNone/>
            </a:pPr>
            <a:r>
              <a:rPr i="1"/>
              <a:t>If the API response returns data in JSON, you will see the response directly in the browser window</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Curl Example</a:t>
            </a:r>
          </a:p>
        </p:txBody>
      </p:sp>
      <p:sp>
        <p:nvSpPr>
          <p:cNvPr id="3" name="Content Placeholder 2"/>
          <p:cNvSpPr>
            <a:spLocks noGrp="1"/>
          </p:cNvSpPr>
          <p:nvPr>
            <p:ph idx="1"/>
          </p:nvPr>
        </p:nvSpPr>
        <p:spPr/>
        <p:txBody>
          <a:bodyPr/>
          <a:lstStyle/>
          <a:p>
            <a:pPr lvl="0" indent="0">
              <a:buNone/>
            </a:pPr>
            <a:r>
              <a:rPr>
                <a:latin typeface="Courier"/>
              </a:rPr>
              <a:t>curl </a:t>
            </a:r>
            <a:r>
              <a:rPr>
                <a:solidFill>
                  <a:srgbClr val="7D9029"/>
                </a:solidFill>
                <a:latin typeface="Courier"/>
              </a:rPr>
              <a:t>-X</a:t>
            </a:r>
            <a:r>
              <a:rPr>
                <a:latin typeface="Courier"/>
              </a:rPr>
              <a:t> GET </a:t>
            </a:r>
            <a:r>
              <a:rPr>
                <a:solidFill>
                  <a:srgbClr val="4070A0"/>
                </a:solidFill>
                <a:latin typeface="Courier"/>
              </a:rPr>
              <a:t>"https://ecocrisis.net/eventinfo/public/event/99"</a:t>
            </a:r>
          </a:p>
          <a:p>
            <a:pPr lvl="0" indent="0" marL="0">
              <a:spcBef>
                <a:spcPts val="3000"/>
              </a:spcBef>
              <a:buNone/>
            </a:pPr>
            <a:r>
              <a:rPr b="1"/>
              <a:t>Server Response:</a:t>
            </a:r>
          </a:p>
          <a:p>
            <a:pPr lvl="0" indent="0" marL="0">
              <a:buNone/>
            </a:pPr>
            <a:r>
              <a:rPr/>
              <a:t>Server returns JSON with event data for event ID 99</a:t>
            </a:r>
          </a:p>
          <a:p>
            <a:pPr lvl="0" indent="0" marL="0">
              <a:spcBef>
                <a:spcPts val="3000"/>
              </a:spcBef>
              <a:buNone/>
            </a:pPr>
            <a:r>
              <a:rPr b="1"/>
              <a:t>Tip:</a:t>
            </a:r>
          </a:p>
          <a:p>
            <a:pPr lvl="0" indent="0" marL="0">
              <a:buNone/>
            </a:pPr>
            <a:r>
              <a:rPr/>
              <a:t>Try appending: </a:t>
            </a:r>
            <a:r>
              <a:rPr>
                <a:latin typeface="Courier"/>
              </a:rPr>
              <a:t>| jq '.event_quote'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Python Example</a:t>
            </a:r>
          </a:p>
        </p:txBody>
      </p:sp>
      <p:sp>
        <p:nvSpPr>
          <p:cNvPr id="3" name="Content Placeholder 2"/>
          <p:cNvSpPr>
            <a:spLocks noGrp="1"/>
          </p:cNvSpPr>
          <p:nvPr>
            <p:ph idx="1"/>
          </p:nvPr>
        </p:nvSpPr>
        <p:spPr/>
        <p:txBody>
          <a:bodyPr/>
          <a:lstStyle/>
          <a:p>
            <a:pPr lvl="0" indent="0">
              <a:buNone/>
            </a:pPr>
            <a:r>
              <a:rPr b="1">
                <a:solidFill>
                  <a:srgbClr val="008000"/>
                </a:solidFill>
                <a:latin typeface="Courier"/>
              </a:rPr>
              <a:t>import</a:t>
            </a:r>
            <a:r>
              <a:rPr>
                <a:latin typeface="Courier"/>
              </a:rPr>
              <a:t> requests</a:t>
            </a:r>
            <a:br/>
            <a:r>
              <a:rPr>
                <a:latin typeface="Courier"/>
              </a:rPr>
              <a:t>endpoint </a:t>
            </a:r>
            <a:r>
              <a:rPr>
                <a:solidFill>
                  <a:srgbClr val="666666"/>
                </a:solidFill>
                <a:latin typeface="Courier"/>
              </a:rPr>
              <a:t>=</a:t>
            </a:r>
            <a:r>
              <a:rPr>
                <a:latin typeface="Courier"/>
              </a:rPr>
              <a:t> </a:t>
            </a:r>
            <a:r>
              <a:rPr>
                <a:solidFill>
                  <a:srgbClr val="4070A0"/>
                </a:solidFill>
                <a:latin typeface="Courier"/>
              </a:rPr>
              <a:t>"https://ecocrisis.net/eventinfo/public/event/99"</a:t>
            </a:r>
            <a:br/>
            <a:r>
              <a:rPr>
                <a:latin typeface="Courier"/>
              </a:rPr>
              <a:t>response </a:t>
            </a:r>
            <a:r>
              <a:rPr>
                <a:solidFill>
                  <a:srgbClr val="666666"/>
                </a:solidFill>
                <a:latin typeface="Courier"/>
              </a:rPr>
              <a:t>=</a:t>
            </a:r>
            <a:r>
              <a:rPr>
                <a:latin typeface="Courier"/>
              </a:rPr>
              <a:t> requests.get(endpoint)</a:t>
            </a:r>
            <a:br/>
            <a:r>
              <a:rPr>
                <a:solidFill>
                  <a:srgbClr val="008000"/>
                </a:solidFill>
                <a:latin typeface="Courier"/>
              </a:rPr>
              <a:t>print</a:t>
            </a:r>
            <a:r>
              <a:rPr>
                <a:latin typeface="Courier"/>
              </a:rPr>
              <a:t>(response.json())</a:t>
            </a:r>
          </a:p>
          <a:p>
            <a:pPr lvl="0" indent="0" marL="0">
              <a:spcBef>
                <a:spcPts val="3000"/>
              </a:spcBef>
              <a:buNone/>
            </a:pPr>
            <a:r>
              <a:rPr b="1"/>
              <a:t>Tip:</a:t>
            </a:r>
          </a:p>
          <a:p>
            <a:pPr lvl="0" indent="0" marL="0">
              <a:buNone/>
            </a:pPr>
            <a:r>
              <a:rPr/>
              <a:t>Return specific key values from dictionary: </a:t>
            </a:r>
            <a:r>
              <a:rPr>
                <a:latin typeface="Courier"/>
              </a:rPr>
              <a:t>print(response.json()['event_quote'])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Content Extraction</dc:title>
  <dc:creator>B. Skopyk</dc:creator>
  <cp:keywords/>
  <dcterms:created xsi:type="dcterms:W3CDTF">2026-02-18T15:42:55Z</dcterms:created>
  <dcterms:modified xsi:type="dcterms:W3CDTF">2026-02-18T15:42:55Z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2026-02-23</vt:lpwstr>
  </property>
  <property fmtid="{D5CDD505-2E9C-101B-9397-08002B2CF9AE}" pid="3" name="subtitle">
    <vt:lpwstr>Scraping, HTML primer, and APIs</vt:lpwstr>
  </property>
</Properties>
</file>