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Drucker: “a network is a system of elements or entities that are connected by explicit relations.” Key word: explicit. Networks force you to be precise about what you mean by “connected.”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examples from Drucker show that network analysis has opened genuinely new historical arguments — not just prettier pictures of what we already knew.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Düring: “Network visualizations helped me understand how these ~5,000 stories and 1,400 individuals relate to each other.” He discovered Walter Heymann as a key contact broker — connections scattered across multiple documents that no close reading alone had surfaced.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Drucker: “Attaching semantic value — meaning — to the spatial placement of nodes can be misleading.” A node that appears isolated may just have been placed there for visual clarity.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choice matters analytically. Düring used a directed network to measure the degree of Jewish self-help — who gave vs. who received. An undirected network would have erased this distinction entirely.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Drucker: “Centrality is the measure of how important any individual node is, measured by the number of connections and type.” Betweenness identifies brokers — people who bridge otherwise separate groups. These are often historically significant figures.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Palladio makes bipartite networks easy to explore. Düring found that switching to a “recipients × date of activity” bipartite network revealed high fluctuation among helpers — an insight invisible in the people-to-people graph.</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Düring spent significant time iterating on this before collecting a single data point. The coding scheme is itself a historical argument — it encodes your assumptions about what matters.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scheme forces explicit interpretive choices. Düring: “The translation of text interpretation into data collection forces you to become explicit about your assumptions.” This is intellectually valuable beyond network analysis.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map directly to the two CSVs you’ll load into Palladio. The attribute table lets you color or size nodes by their properties. The relations table defines the graph structure itself.</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Düring: “Coding data in this way will raise many questions and will force you to study your sources more deeply and more rigorously than if you had worked through them the ‘traditional’ way.” Network analysis is a method of close reading, not a replacement for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the steps as a simple bullet list so they actually fit on the slide; the linear diagram was too long in the PPT. Emphasize that each arrow in the list often cycles back (i.e. coding and interpretation are iterative).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this course we use Palladio because it requires no installation and is designed exactly for the exploratory phase Düring describes. Gephi is the standard for publication-quality work. NetworkX is what you’d use if you wanted to script the analysis or scale it up.</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Drucker’s “hairy ball” problem: large unfiltered networks are visually complex but analytically useless until you filter, facet, and interrogate specific subsets.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is not to commit to using network analysis in their projects — it’s to think through the data modeling problem seriously. Even deciding that network analysis is </a:t>
            </a:r>
            <a:r>
              <a:rPr i="1"/>
              <a:t>not</a:t>
            </a:r>
            <a:r>
              <a:rPr/>
              <a:t> appropriate for your sources is a valid and useful conclusion.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Week 8: Network Analysis for Historians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Theory, Modeling, and Visualization</a:t>
            </a:r>
            <a:br/>
            <a:br/>
            <a:r>
              <a:rPr/>
              <a:t>HIST 501D - Digital History</a:t>
            </a:r>
          </a:p>
        </p:txBody>
      </p:sp>
      <p:sp>
        <p:nvSpPr>
          <p:cNvPr id="4" name="Date Placeholder 3"/>
          <p:cNvSpPr>
            <a:spLocks noGrp="1"/>
          </p:cNvSpPr>
          <p:nvPr>
            <p:ph idx="10" sz="half" type="dt"/>
          </p:nvPr>
        </p:nvSpPr>
        <p:spPr/>
        <p:txBody>
          <a:bodyPr/>
          <a:lstStyle/>
          <a:p>
            <a:pPr lvl="0" indent="0" marL="0">
              <a:buNone/>
            </a:pPr>
            <a:r>
              <a:rPr/>
              <a:t>March 16,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a Network?</a:t>
            </a:r>
          </a:p>
        </p:txBody>
      </p:sp>
      <p:sp>
        <p:nvSpPr>
          <p:cNvPr id="3" name="Content Placeholder 2"/>
          <p:cNvSpPr>
            <a:spLocks noGrp="1"/>
          </p:cNvSpPr>
          <p:nvPr>
            <p:ph idx="1"/>
          </p:nvPr>
        </p:nvSpPr>
        <p:spPr/>
        <p:txBody>
          <a:bodyPr/>
          <a:lstStyle/>
          <a:p>
            <a:pPr lvl="0" indent="0" marL="0">
              <a:buNone/>
            </a:pPr>
            <a:r>
              <a:rPr/>
              <a:t>A </a:t>
            </a:r>
            <a:r>
              <a:rPr b="1"/>
              <a:t>network</a:t>
            </a:r>
            <a:r>
              <a:rPr/>
              <a:t> is a system of entities connected by explicit relations</a:t>
            </a:r>
          </a:p>
          <a:p>
            <a:pPr lvl="0"/>
            <a:r>
              <a:rPr b="1"/>
              <a:t>Nodes</a:t>
            </a:r>
            <a:r>
              <a:rPr/>
              <a:t> — the entities (people, places, institutions, texts, events)</a:t>
            </a:r>
          </a:p>
          <a:p>
            <a:pPr lvl="0"/>
            <a:r>
              <a:rPr b="1"/>
              <a:t>Edges</a:t>
            </a:r>
            <a:r>
              <a:rPr/>
              <a:t> — the relationships between them (helped, cited, traded with, corresponded)</a:t>
            </a:r>
          </a:p>
          <a:p>
            <a:pPr lvl="0"/>
            <a:r>
              <a:rPr/>
              <a:t>Everything else is a simplification of something more complex</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Networks Are Everywhere in History</a:t>
            </a:r>
          </a:p>
        </p:txBody>
      </p:sp>
      <p:sp>
        <p:nvSpPr>
          <p:cNvPr id="3" name="Content Placeholder 2"/>
          <p:cNvSpPr>
            <a:spLocks noGrp="1"/>
          </p:cNvSpPr>
          <p:nvPr>
            <p:ph idx="1"/>
          </p:nvPr>
        </p:nvSpPr>
        <p:spPr/>
        <p:txBody>
          <a:bodyPr/>
          <a:lstStyle/>
          <a:p>
            <a:pPr lvl="0"/>
            <a:r>
              <a:rPr/>
              <a:t>Social networks: who helped whom in occupied Berlin (Düring)</a:t>
            </a:r>
          </a:p>
          <a:p>
            <a:pPr lvl="0"/>
            <a:r>
              <a:rPr/>
              <a:t>Literary networks: Buddhist monks as hubs of Tang dynasty poetry (Mazanec)</a:t>
            </a:r>
          </a:p>
          <a:p>
            <a:pPr lvl="0"/>
            <a:r>
              <a:rPr/>
              <a:t>Market networks: London art dealers and auction records (Fletcher &amp; Helmreich)</a:t>
            </a:r>
          </a:p>
          <a:p>
            <a:pPr lvl="0"/>
            <a:r>
              <a:rPr/>
              <a:t>Communication networks: letters, petitions, pamphlets</a:t>
            </a:r>
          </a:p>
          <a:p>
            <a:pPr lvl="0"/>
            <a:r>
              <a:rPr/>
              <a:t>Kinship networks: Kindred Britain (~30,000 individuals)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Network Analysis for History?</a:t>
            </a:r>
          </a:p>
        </p:txBody>
      </p:sp>
      <p:sp>
        <p:nvSpPr>
          <p:cNvPr id="3" name="Content Placeholder 2"/>
          <p:cNvSpPr>
            <a:spLocks noGrp="1"/>
          </p:cNvSpPr>
          <p:nvPr>
            <p:ph idx="1"/>
          </p:nvPr>
        </p:nvSpPr>
        <p:spPr/>
        <p:txBody>
          <a:bodyPr/>
          <a:lstStyle/>
          <a:p>
            <a:pPr lvl="0" indent="0" marL="0">
              <a:buNone/>
            </a:pPr>
            <a:r>
              <a:rPr b="1"/>
              <a:t>It transforms complexity from a problem into an object of research</a:t>
            </a:r>
          </a:p>
          <a:p>
            <a:pPr lvl="0"/>
            <a:r>
              <a:rPr/>
              <a:t>Reveals hidden brokers, clusters, and gaps</a:t>
            </a:r>
          </a:p>
          <a:p>
            <a:pPr lvl="0"/>
            <a:r>
              <a:rPr/>
              <a:t>Shows who bridges different groups</a:t>
            </a:r>
          </a:p>
          <a:p>
            <a:pPr lvl="0"/>
            <a:r>
              <a:rPr/>
              <a:t>Surfaces patterns across thousands of relationships</a:t>
            </a:r>
          </a:p>
          <a:p>
            <a:pPr lvl="0"/>
            <a:r>
              <a:rPr/>
              <a:t>Makes the </a:t>
            </a:r>
            <a:r>
              <a:rPr i="1"/>
              <a:t>structure</a:t>
            </a:r>
            <a:r>
              <a:rPr/>
              <a:t> of a historical situation visible, not just the events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First: The Critical View</a:t>
            </a:r>
          </a:p>
        </p:txBody>
      </p:sp>
      <p:sp>
        <p:nvSpPr>
          <p:cNvPr id="3" name="Content Placeholder 2"/>
          <p:cNvSpPr>
            <a:spLocks noGrp="1"/>
          </p:cNvSpPr>
          <p:nvPr>
            <p:ph idx="1"/>
          </p:nvPr>
        </p:nvSpPr>
        <p:spPr/>
        <p:txBody>
          <a:bodyPr/>
          <a:lstStyle/>
          <a:p>
            <a:pPr lvl="0" indent="0" marL="1270000">
              <a:buNone/>
            </a:pPr>
            <a:r>
              <a:rPr sz="2000"/>
              <a:t>“Visualizations are not ‘proof’ of anything but tools to help understand complex relations” — Marten Düring</a:t>
            </a:r>
          </a:p>
          <a:p>
            <a:pPr lvl="0"/>
            <a:r>
              <a:rPr/>
              <a:t>Nodes and edges are </a:t>
            </a:r>
            <a:r>
              <a:rPr b="1"/>
              <a:t>drastically simplified models</a:t>
            </a:r>
          </a:p>
          <a:p>
            <a:pPr lvl="0"/>
            <a:r>
              <a:rPr/>
              <a:t>The coding decisions </a:t>
            </a:r>
            <a:r>
              <a:rPr i="1"/>
              <a:t>you</a:t>
            </a:r>
            <a:r>
              <a:rPr/>
              <a:t> make shape the graph you see</a:t>
            </a:r>
          </a:p>
          <a:p>
            <a:pPr lvl="0"/>
            <a:r>
              <a:rPr/>
              <a:t>Layout algorithms optimize legibility, not truth — spatial distance is </a:t>
            </a:r>
            <a:r>
              <a:rPr b="1"/>
              <a:t>not</a:t>
            </a:r>
            <a:r>
              <a:rPr/>
              <a:t> literal</a:t>
            </a:r>
          </a:p>
          <a:p>
            <a:pPr lvl="0"/>
            <a:r>
              <a:rPr/>
              <a:t>A network can only show what you put into 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Directed vs. Undirected Networks</a:t>
            </a:r>
          </a:p>
        </p:txBody>
      </p:sp>
      <p:sp>
        <p:nvSpPr>
          <p:cNvPr id="3" name="Content Placeholder 2"/>
          <p:cNvSpPr>
            <a:spLocks noGrp="1"/>
          </p:cNvSpPr>
          <p:nvPr>
            <p:ph idx="1"/>
          </p:nvPr>
        </p:nvSpPr>
        <p:spPr/>
        <p:txBody>
          <a:bodyPr/>
          <a:lstStyle/>
          <a:p>
            <a:pPr lvl="0" indent="0" marL="0">
              <a:buNone/>
            </a:pPr>
            <a:r>
              <a:rPr b="1"/>
              <a:t>Directed</a:t>
            </a:r>
            <a:r>
              <a:rPr/>
              <a:t>: relationships have a direction (A → B ≠ B → A)</a:t>
            </a:r>
          </a:p>
          <a:p>
            <a:pPr lvl="0"/>
            <a:r>
              <a:rPr/>
              <a:t>Money flows from parent to child</a:t>
            </a:r>
          </a:p>
          <a:p>
            <a:pPr lvl="0"/>
            <a:r>
              <a:rPr/>
              <a:t>Help given vs. help received</a:t>
            </a:r>
          </a:p>
          <a:p>
            <a:pPr lvl="0"/>
            <a:r>
              <a:rPr/>
              <a:t>Citations: author A cites author B</a:t>
            </a:r>
          </a:p>
          <a:p>
            <a:pPr lvl="0" indent="0" marL="0">
              <a:buNone/>
            </a:pPr>
            <a:r>
              <a:rPr b="1"/>
              <a:t>Undirected</a:t>
            </a:r>
            <a:r>
              <a:rPr/>
              <a:t>: relationship is symmetric</a:t>
            </a:r>
          </a:p>
          <a:p>
            <a:pPr lvl="0"/>
            <a:r>
              <a:rPr/>
              <a:t>“Co-appeared in the same organization”</a:t>
            </a:r>
          </a:p>
          <a:p>
            <a:pPr lvl="0"/>
            <a:r>
              <a:rPr/>
              <a:t>“Married to”</a:t>
            </a:r>
          </a:p>
          <a:p>
            <a:pPr lvl="0"/>
            <a:r>
              <a:rPr/>
              <a:t>“Performed in the same venue”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Network Concepts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Concept</a:t>
                      </a:r>
                    </a:p>
                  </a:txBody>
                  <a:tcPr/>
                </a:tc>
                <a:tc>
                  <a:txBody>
                    <a:bodyPr/>
                    <a:lstStyle/>
                    <a:p>
                      <a:pPr lvl="0" indent="0" marL="0">
                        <a:buNone/>
                      </a:pPr>
                      <a:r>
                        <a:rPr/>
                        <a:t>Meaning</a:t>
                      </a:r>
                    </a:p>
                  </a:txBody>
                  <a:tcPr/>
                </a:tc>
              </a:tr>
              <a:tr h="0">
                <a:tc>
                  <a:txBody>
                    <a:bodyPr/>
                    <a:lstStyle/>
                    <a:p>
                      <a:pPr lvl="0" indent="0" marL="0">
                        <a:buNone/>
                      </a:pPr>
                      <a:r>
                        <a:rPr b="1"/>
                        <a:t>Degree</a:t>
                      </a:r>
                    </a:p>
                  </a:txBody>
                </a:tc>
                <a:tc>
                  <a:txBody>
                    <a:bodyPr/>
                    <a:lstStyle/>
                    <a:p>
                      <a:pPr lvl="0" indent="0" marL="0">
                        <a:buNone/>
                      </a:pPr>
                      <a:r>
                        <a:rPr/>
                        <a:t>Number of connections a node has</a:t>
                      </a:r>
                    </a:p>
                  </a:txBody>
                </a:tc>
              </a:tr>
              <a:tr h="0">
                <a:tc>
                  <a:txBody>
                    <a:bodyPr/>
                    <a:lstStyle/>
                    <a:p>
                      <a:pPr lvl="0" indent="0" marL="0">
                        <a:buNone/>
                      </a:pPr>
                      <a:r>
                        <a:rPr b="1"/>
                        <a:t>In-degree / Out-degree</a:t>
                      </a:r>
                    </a:p>
                  </a:txBody>
                </a:tc>
                <a:tc>
                  <a:txBody>
                    <a:bodyPr/>
                    <a:lstStyle/>
                    <a:p>
                      <a:pPr lvl="0" indent="0" marL="0">
                        <a:buNone/>
                      </a:pPr>
                      <a:r>
                        <a:rPr/>
                        <a:t>Connections coming in vs. going out (directed)</a:t>
                      </a:r>
                    </a:p>
                  </a:txBody>
                </a:tc>
              </a:tr>
              <a:tr h="0">
                <a:tc>
                  <a:txBody>
                    <a:bodyPr/>
                    <a:lstStyle/>
                    <a:p>
                      <a:pPr lvl="0" indent="0" marL="0">
                        <a:buNone/>
                      </a:pPr>
                      <a:r>
                        <a:rPr b="1"/>
                        <a:t>Centrality</a:t>
                      </a:r>
                    </a:p>
                  </a:txBody>
                </a:tc>
                <a:tc>
                  <a:txBody>
                    <a:bodyPr/>
                    <a:lstStyle/>
                    <a:p>
                      <a:pPr lvl="0" indent="0" marL="0">
                        <a:buNone/>
                      </a:pPr>
                      <a:r>
                        <a:rPr/>
                        <a:t>How important a node is by its connections</a:t>
                      </a:r>
                    </a:p>
                  </a:txBody>
                </a:tc>
              </a:tr>
              <a:tr h="0">
                <a:tc>
                  <a:txBody>
                    <a:bodyPr/>
                    <a:lstStyle/>
                    <a:p>
                      <a:pPr lvl="0" indent="0" marL="0">
                        <a:buNone/>
                      </a:pPr>
                      <a:r>
                        <a:rPr b="1"/>
                        <a:t>Betweenness</a:t>
                      </a:r>
                    </a:p>
                  </a:txBody>
                </a:tc>
                <a:tc>
                  <a:txBody>
                    <a:bodyPr/>
                    <a:lstStyle/>
                    <a:p>
                      <a:pPr lvl="0" indent="0" marL="0">
                        <a:buNone/>
                      </a:pPr>
                      <a:r>
                        <a:rPr/>
                        <a:t>How often a node sits on the path between others</a:t>
                      </a:r>
                    </a:p>
                  </a:txBody>
                </a:tc>
              </a:tr>
              <a:tr h="0">
                <a:tc>
                  <a:txBody>
                    <a:bodyPr/>
                    <a:lstStyle/>
                    <a:p>
                      <a:pPr lvl="0" indent="0" marL="0">
                        <a:buNone/>
                      </a:pPr>
                      <a:r>
                        <a:rPr b="1"/>
                        <a:t>Closeness</a:t>
                      </a:r>
                    </a:p>
                  </a:txBody>
                </a:tc>
                <a:tc>
                  <a:txBody>
                    <a:bodyPr/>
                    <a:lstStyle/>
                    <a:p>
                      <a:pPr lvl="0" indent="0" marL="0">
                        <a:buNone/>
                      </a:pPr>
                      <a:r>
                        <a:rPr/>
                        <a:t>How quickly a node can reach all others</a:t>
                      </a:r>
                    </a:p>
                  </a:txBody>
                </a:tc>
              </a:tr>
              <a:tr h="0">
                <a:tc>
                  <a:txBody>
                    <a:bodyPr/>
                    <a:lstStyle/>
                    <a:p>
                      <a:pPr lvl="0" indent="0" marL="0">
                        <a:buNone/>
                      </a:pPr>
                      <a:r>
                        <a:rPr b="1"/>
                        <a:t>Cluster</a:t>
                      </a:r>
                    </a:p>
                  </a:txBody>
                </a:tc>
                <a:tc>
                  <a:txBody>
                    <a:bodyPr/>
                    <a:lstStyle/>
                    <a:p>
                      <a:pPr lvl="0" indent="0" marL="0">
                        <a:buNone/>
                      </a:pPr>
                      <a:r>
                        <a:rPr/>
                        <a:t>A group of densely connected nodes</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Unipartite vs. Bipartite Networks</a:t>
            </a:r>
          </a:p>
        </p:txBody>
      </p:sp>
      <p:sp>
        <p:nvSpPr>
          <p:cNvPr id="3" name="Content Placeholder 2"/>
          <p:cNvSpPr>
            <a:spLocks noGrp="1"/>
          </p:cNvSpPr>
          <p:nvPr>
            <p:ph idx="1"/>
          </p:nvPr>
        </p:nvSpPr>
        <p:spPr/>
        <p:txBody>
          <a:bodyPr/>
          <a:lstStyle/>
          <a:p>
            <a:pPr lvl="0" indent="0" marL="0">
              <a:buNone/>
            </a:pPr>
            <a:r>
              <a:rPr b="1"/>
              <a:t>Unipartite (1-mode)</a:t>
            </a:r>
            <a:r>
              <a:rPr/>
              <a:t>: one type of node</a:t>
            </a:r>
          </a:p>
          <a:p>
            <a:pPr lvl="0"/>
            <a:r>
              <a:rPr/>
              <a:t>People connected to people</a:t>
            </a:r>
          </a:p>
          <a:p>
            <a:pPr lvl="0"/>
            <a:r>
              <a:rPr/>
              <a:t>Articles citing articles</a:t>
            </a:r>
          </a:p>
          <a:p>
            <a:pPr lvl="0" indent="0" marL="0">
              <a:buNone/>
            </a:pPr>
            <a:r>
              <a:rPr b="1"/>
              <a:t>Bipartite (2-mode)</a:t>
            </a:r>
            <a:r>
              <a:rPr/>
              <a:t>: two different types of node</a:t>
            </a:r>
          </a:p>
          <a:p>
            <a:pPr lvl="0"/>
            <a:r>
              <a:rPr/>
              <a:t>People connected to </a:t>
            </a:r>
            <a:r>
              <a:rPr i="1"/>
              <a:t>events</a:t>
            </a:r>
            <a:r>
              <a:rPr/>
              <a:t> they attended</a:t>
            </a:r>
          </a:p>
          <a:p>
            <a:pPr lvl="0"/>
            <a:r>
              <a:rPr/>
              <a:t>People connected to </a:t>
            </a:r>
            <a:r>
              <a:rPr i="1"/>
              <a:t>time periods</a:t>
            </a:r>
            <a:r>
              <a:rPr/>
              <a:t> they were active</a:t>
            </a:r>
          </a:p>
          <a:p>
            <a:pPr lvl="0"/>
            <a:r>
              <a:rPr/>
              <a:t>Books connected to </a:t>
            </a:r>
            <a:r>
              <a:rPr i="1"/>
              <a:t>genres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Hard Part: Modeling Your Data</a:t>
            </a:r>
          </a:p>
        </p:txBody>
      </p:sp>
      <p:sp>
        <p:nvSpPr>
          <p:cNvPr id="3" name="Content Placeholder 2"/>
          <p:cNvSpPr>
            <a:spLocks noGrp="1"/>
          </p:cNvSpPr>
          <p:nvPr>
            <p:ph idx="1"/>
          </p:nvPr>
        </p:nvSpPr>
        <p:spPr/>
        <p:txBody>
          <a:bodyPr/>
          <a:lstStyle/>
          <a:p>
            <a:pPr lvl="0" indent="0" marL="0">
              <a:buNone/>
            </a:pPr>
            <a:r>
              <a:rPr/>
              <a:t>Before you open any tool, you need to answer:</a:t>
            </a:r>
          </a:p>
          <a:p>
            <a:pPr lvl="0" indent="-342900" marL="342900">
              <a:buAutoNum type="arabicPeriod"/>
            </a:pPr>
            <a:r>
              <a:rPr b="1"/>
              <a:t>What is a node?</a:t>
            </a:r>
            <a:r>
              <a:rPr/>
              <a:t> — Who or what counts as an entity?</a:t>
            </a:r>
          </a:p>
          <a:p>
            <a:pPr lvl="0" indent="-342900" marL="342900">
              <a:buAutoNum type="arabicPeriod"/>
            </a:pPr>
            <a:r>
              <a:rPr b="1"/>
              <a:t>What is an edge?</a:t>
            </a:r>
            <a:r>
              <a:rPr/>
              <a:t> — What kind of relationship are you coding?</a:t>
            </a:r>
          </a:p>
          <a:p>
            <a:pPr lvl="0" indent="-342900" marL="342900">
              <a:buAutoNum type="arabicPeriod"/>
            </a:pPr>
            <a:r>
              <a:rPr b="1"/>
              <a:t>What is included / excluded?</a:t>
            </a:r>
            <a:r>
              <a:rPr/>
              <a:t> — Bystanders? Ambiguous cases?</a:t>
            </a:r>
          </a:p>
          <a:p>
            <a:pPr lvl="0" indent="-342900" marL="342900">
              <a:buAutoNum type="arabicPeriod"/>
            </a:pPr>
            <a:r>
              <a:rPr b="1"/>
              <a:t>Is there direction?</a:t>
            </a:r>
            <a:r>
              <a:rPr/>
              <a:t> — Does A→B differ from B→A?</a:t>
            </a:r>
          </a:p>
          <a:p>
            <a:pPr lvl="0" indent="-342900" marL="342900">
              <a:buAutoNum type="arabicPeriod"/>
            </a:pPr>
            <a:r>
              <a:rPr b="1"/>
              <a:t>What attributes matter?</a:t>
            </a:r>
            <a:r>
              <a:rPr/>
              <a:t> — Gender, race, date, intensity?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Coding Scheme</a:t>
            </a:r>
          </a:p>
        </p:txBody>
      </p:sp>
      <p:sp>
        <p:nvSpPr>
          <p:cNvPr id="3" name="Content Placeholder 2"/>
          <p:cNvSpPr>
            <a:spLocks noGrp="1"/>
          </p:cNvSpPr>
          <p:nvPr>
            <p:ph idx="1"/>
          </p:nvPr>
        </p:nvSpPr>
        <p:spPr/>
        <p:txBody>
          <a:bodyPr/>
          <a:lstStyle/>
          <a:p>
            <a:pPr lvl="0"/>
            <a:r>
              <a:rPr/>
              <a:t>Every row is one </a:t>
            </a:r>
            <a:r>
              <a:rPr b="1"/>
              <a:t>act/event</a:t>
            </a:r>
          </a:p>
          <a:p>
            <a:pPr lvl="0"/>
            <a:r>
              <a:rPr/>
              <a:t>Multiple rows can connect the same pair</a:t>
            </a:r>
          </a:p>
          <a:p>
            <a:pPr lvl="0"/>
            <a:r>
              <a:rPr/>
              <a:t>Categories should be </a:t>
            </a:r>
            <a:r>
              <a:rPr b="1"/>
              <a:t>defined abstractly</a:t>
            </a:r>
            <a:r>
              <a:rPr/>
              <a:t> with examples from sources</a:t>
            </a:r>
          </a:p>
          <a:p>
            <a:pPr lvl="0"/>
            <a:r>
              <a:rPr/>
              <a:t>Use a code for </a:t>
            </a:r>
            <a:r>
              <a:rPr b="1"/>
              <a:t>unknown</a:t>
            </a:r>
            <a:r>
              <a:rPr/>
              <a:t> (e.g. </a:t>
            </a:r>
            <a:r>
              <a:rPr>
                <a:latin typeface="Courier"/>
              </a:rPr>
              <a:t>99</a:t>
            </a:r>
            <a:r>
              <a:rPr/>
              <a:t>) — never leave cells blank</a:t>
            </a:r>
          </a:p>
          <a:p>
            <a:pPr lvl="0"/>
            <a:r>
              <a:rPr/>
              <a:t>Expect to revise your model as you code more sources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Coding Scheme to Two CSVs</a:t>
            </a:r>
          </a:p>
        </p:txBody>
      </p:sp>
      <p:sp>
        <p:nvSpPr>
          <p:cNvPr id="3" name="Content Placeholder 2"/>
          <p:cNvSpPr>
            <a:spLocks noGrp="1"/>
          </p:cNvSpPr>
          <p:nvPr>
            <p:ph idx="1"/>
          </p:nvPr>
        </p:nvSpPr>
        <p:spPr/>
        <p:txBody>
          <a:bodyPr/>
          <a:lstStyle/>
          <a:p>
            <a:pPr lvl="0" indent="0" marL="0">
              <a:buNone/>
            </a:pPr>
            <a:r>
              <a:rPr b="1"/>
              <a:t>Relations table</a:t>
            </a:r>
            <a:r>
              <a:rPr/>
              <a:t> (</a:t>
            </a:r>
            <a:r>
              <a:rPr>
                <a:latin typeface="Courier"/>
              </a:rPr>
              <a:t>relations.csv</a:t>
            </a:r>
            <a:r>
              <a:rPr/>
              <a:t>) — one row per relationship</a:t>
            </a:r>
          </a:p>
          <a:p>
            <a:pPr lvl="0" indent="0">
              <a:buNone/>
            </a:pPr>
            <a:r>
              <a:rPr>
                <a:latin typeface="Courier"/>
              </a:rPr>
              <a:t>Giver,Recipient,Form of Help,Date of Activity,...
Agnes Wendland,Ralph Neumann,3,12,...
Leo Fraines,Ralph Neumann,4,10,...</a:t>
            </a:r>
          </a:p>
          <a:p>
            <a:pPr lvl="0" indent="0" marL="0">
              <a:buNone/>
            </a:pPr>
            <a:r>
              <a:rPr b="1"/>
              <a:t>Attribute table</a:t>
            </a:r>
            <a:r>
              <a:rPr/>
              <a:t> (</a:t>
            </a:r>
            <a:r>
              <a:rPr>
                <a:latin typeface="Courier"/>
              </a:rPr>
              <a:t>attributes.csv</a:t>
            </a:r>
            <a:r>
              <a:rPr/>
              <a:t>) — one row per node</a:t>
            </a:r>
          </a:p>
          <a:p>
            <a:pPr lvl="0" indent="0">
              <a:buNone/>
            </a:pPr>
            <a:r>
              <a:rPr>
                <a:latin typeface="Courier"/>
              </a:rPr>
              <a:t>Person,NS Race Status,Gender
Ralph Neumann,2,1
Agnes Wendland,1,2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Hermeneutics Meets Data</a:t>
            </a:r>
          </a:p>
        </p:txBody>
      </p:sp>
      <p:sp>
        <p:nvSpPr>
          <p:cNvPr id="3" name="Content Placeholder 2"/>
          <p:cNvSpPr>
            <a:spLocks noGrp="1"/>
          </p:cNvSpPr>
          <p:nvPr>
            <p:ph idx="1"/>
          </p:nvPr>
        </p:nvSpPr>
        <p:spPr/>
        <p:txBody>
          <a:bodyPr/>
          <a:lstStyle/>
          <a:p>
            <a:pPr lvl="0" indent="0" marL="0">
              <a:buNone/>
            </a:pPr>
            <a:r>
              <a:rPr/>
              <a:t>Close reading and data coding are </a:t>
            </a:r>
            <a:r>
              <a:rPr b="1"/>
              <a:t>not opposites</a:t>
            </a:r>
            <a:r>
              <a:rPr/>
              <a:t> — they are intertwined</a:t>
            </a:r>
          </a:p>
          <a:p>
            <a:pPr lvl="0"/>
            <a:r>
              <a:rPr/>
              <a:t>The text says “friend” — you must interpret what kind of relationship that is</a:t>
            </a:r>
          </a:p>
          <a:p>
            <a:pPr lvl="0"/>
            <a:r>
              <a:rPr/>
              <a:t>Coding forces you to </a:t>
            </a:r>
            <a:r>
              <a:rPr b="1"/>
              <a:t>read more carefully</a:t>
            </a:r>
            <a:r>
              <a:rPr/>
              <a:t>, not less</a:t>
            </a:r>
          </a:p>
          <a:p>
            <a:pPr lvl="0"/>
            <a:r>
              <a:rPr/>
              <a:t>Every cell you fill in represents an interpretive act</a:t>
            </a:r>
          </a:p>
          <a:p>
            <a:pPr lvl="0"/>
            <a:r>
              <a:rPr/>
              <a:t>The graph will raise new questions that send you back to the sources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Workflow: Text → Graph</a:t>
            </a:r>
          </a:p>
        </p:txBody>
      </p:sp>
      <p:sp>
        <p:nvSpPr>
          <p:cNvPr id="3" name="Content Placeholder 2"/>
          <p:cNvSpPr>
            <a:spLocks noGrp="1"/>
          </p:cNvSpPr>
          <p:nvPr>
            <p:ph idx="1"/>
          </p:nvPr>
        </p:nvSpPr>
        <p:spPr/>
        <p:txBody>
          <a:bodyPr/>
          <a:lstStyle/>
          <a:p>
            <a:pPr lvl="0"/>
            <a:r>
              <a:rPr/>
              <a:t>Start with a </a:t>
            </a:r>
            <a:r>
              <a:rPr b="1"/>
              <a:t>historical source</a:t>
            </a:r>
            <a:r>
              <a:rPr/>
              <a:t> (text, dataset, etc.)</a:t>
            </a:r>
          </a:p>
          <a:p>
            <a:pPr lvl="0"/>
            <a:r>
              <a:rPr/>
              <a:t>Perform </a:t>
            </a:r>
            <a:r>
              <a:rPr b="1"/>
              <a:t>close reading</a:t>
            </a:r>
            <a:r>
              <a:rPr/>
              <a:t> and identify relationships</a:t>
            </a:r>
          </a:p>
          <a:p>
            <a:pPr lvl="0"/>
            <a:r>
              <a:rPr/>
              <a:t>Build an </a:t>
            </a:r>
            <a:r>
              <a:rPr b="1"/>
              <a:t>iterative coding scheme</a:t>
            </a:r>
            <a:r>
              <a:rPr/>
              <a:t> to capture nodes/edges</a:t>
            </a:r>
          </a:p>
          <a:p>
            <a:pPr lvl="0"/>
            <a:r>
              <a:rPr/>
              <a:t>Export two tables: </a:t>
            </a:r>
            <a:r>
              <a:rPr b="1"/>
              <a:t>relations CSV</a:t>
            </a:r>
            <a:r>
              <a:rPr/>
              <a:t> and </a:t>
            </a:r>
            <a:r>
              <a:rPr b="1"/>
              <a:t>attributes CSV</a:t>
            </a:r>
          </a:p>
          <a:p>
            <a:pPr lvl="0"/>
            <a:r>
              <a:rPr/>
              <a:t>Load into a visualization tool (Palladio, Gephi, NetworkX, …)</a:t>
            </a:r>
          </a:p>
          <a:p>
            <a:pPr lvl="0"/>
            <a:r>
              <a:rPr/>
              <a:t>Use the resulting network to </a:t>
            </a:r>
            <a:r>
              <a:rPr b="1"/>
              <a:t>interpret and revisit sources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Tools: Choosing the Right One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Tool</a:t>
                      </a:r>
                    </a:p>
                  </a:txBody>
                  <a:tcPr/>
                </a:tc>
                <a:tc>
                  <a:txBody>
                    <a:bodyPr/>
                    <a:lstStyle/>
                    <a:p>
                      <a:pPr lvl="0" indent="0" marL="0">
                        <a:buNone/>
                      </a:pPr>
                      <a:r>
                        <a:rPr/>
                        <a:t>Best for</a:t>
                      </a:r>
                    </a:p>
                  </a:txBody>
                  <a:tcPr/>
                </a:tc>
                <a:tc>
                  <a:txBody>
                    <a:bodyPr/>
                    <a:lstStyle/>
                    <a:p>
                      <a:pPr lvl="0" indent="0" marL="0">
                        <a:buNone/>
                      </a:pPr>
                      <a:r>
                        <a:rPr/>
                        <a:t>Notes</a:t>
                      </a:r>
                    </a:p>
                  </a:txBody>
                  <a:tcPr/>
                </a:tc>
              </a:tr>
              <a:tr h="0">
                <a:tc>
                  <a:txBody>
                    <a:bodyPr/>
                    <a:lstStyle/>
                    <a:p>
                      <a:pPr lvl="0" indent="0" marL="0">
                        <a:buNone/>
                      </a:pPr>
                      <a:r>
                        <a:rPr b="1"/>
                        <a:t>Palladio</a:t>
                      </a:r>
                    </a:p>
                  </a:txBody>
                </a:tc>
                <a:tc>
                  <a:txBody>
                    <a:bodyPr/>
                    <a:lstStyle/>
                    <a:p>
                      <a:pPr lvl="0" indent="0" marL="0">
                        <a:buNone/>
                      </a:pPr>
                      <a:r>
                        <a:rPr/>
                        <a:t>Quick exploration, no install</a:t>
                      </a:r>
                    </a:p>
                  </a:txBody>
                </a:tc>
                <a:tc>
                  <a:txBody>
                    <a:bodyPr/>
                    <a:lstStyle/>
                    <a:p>
                      <a:pPr lvl="0" indent="0" marL="0">
                        <a:buNone/>
                      </a:pPr>
                      <a:r>
                        <a:rPr/>
                        <a:t>Browser-based; Stanford; limited analysis</a:t>
                      </a:r>
                    </a:p>
                  </a:txBody>
                </a:tc>
              </a:tr>
              <a:tr h="0">
                <a:tc>
                  <a:txBody>
                    <a:bodyPr/>
                    <a:lstStyle/>
                    <a:p>
                      <a:pPr lvl="0" indent="0" marL="0">
                        <a:buNone/>
                      </a:pPr>
                      <a:r>
                        <a:rPr b="1"/>
                        <a:t>Gephi</a:t>
                      </a:r>
                    </a:p>
                  </a:txBody>
                </a:tc>
                <a:tc>
                  <a:txBody>
                    <a:bodyPr/>
                    <a:lstStyle/>
                    <a:p>
                      <a:pPr lvl="0" indent="0" marL="0">
                        <a:buNone/>
                      </a:pPr>
                      <a:r>
                        <a:rPr/>
                        <a:t>Full analysis, publication graphs</a:t>
                      </a:r>
                    </a:p>
                  </a:txBody>
                </a:tc>
                <a:tc>
                  <a:txBody>
                    <a:bodyPr/>
                    <a:lstStyle/>
                    <a:p>
                      <a:pPr lvl="0" indent="0" marL="0">
                        <a:buNone/>
                      </a:pPr>
                      <a:r>
                        <a:rPr/>
                        <a:t>Open source; steep learning curve</a:t>
                      </a:r>
                    </a:p>
                  </a:txBody>
                </a:tc>
              </a:tr>
              <a:tr h="0">
                <a:tc>
                  <a:txBody>
                    <a:bodyPr/>
                    <a:lstStyle/>
                    <a:p>
                      <a:pPr lvl="0" indent="0" marL="0">
                        <a:buNone/>
                      </a:pPr>
                      <a:r>
                        <a:rPr b="1"/>
                        <a:t>NodeXL</a:t>
                      </a:r>
                    </a:p>
                  </a:txBody>
                </a:tc>
                <a:tc>
                  <a:txBody>
                    <a:bodyPr/>
                    <a:lstStyle/>
                    <a:p>
                      <a:pPr lvl="0" indent="0" marL="0">
                        <a:buNone/>
                      </a:pPr>
                      <a:r>
                        <a:rPr/>
                        <a:t>Excel-integrated analysis</a:t>
                      </a:r>
                    </a:p>
                  </a:txBody>
                </a:tc>
                <a:tc>
                  <a:txBody>
                    <a:bodyPr/>
                    <a:lstStyle/>
                    <a:p>
                      <a:pPr lvl="0" indent="0" marL="0">
                        <a:buNone/>
                      </a:pPr>
                      <a:r>
                        <a:rPr/>
                        <a:t>Windows + MS Office only</a:t>
                      </a:r>
                    </a:p>
                  </a:txBody>
                </a:tc>
              </a:tr>
              <a:tr h="0">
                <a:tc>
                  <a:txBody>
                    <a:bodyPr/>
                    <a:lstStyle/>
                    <a:p>
                      <a:pPr lvl="0" indent="0" marL="0">
                        <a:buNone/>
                      </a:pPr>
                      <a:r>
                        <a:rPr b="1"/>
                        <a:t>NetworkX</a:t>
                      </a:r>
                    </a:p>
                  </a:txBody>
                </a:tc>
                <a:tc>
                  <a:txBody>
                    <a:bodyPr/>
                    <a:lstStyle/>
                    <a:p>
                      <a:pPr lvl="0" indent="0" marL="0">
                        <a:buNone/>
                      </a:pPr>
                      <a:r>
                        <a:rPr/>
                        <a:t>Python-based analysis &amp; automation</a:t>
                      </a:r>
                    </a:p>
                  </a:txBody>
                </a:tc>
                <a:tc>
                  <a:txBody>
                    <a:bodyPr/>
                    <a:lstStyle/>
                    <a:p>
                      <a:pPr lvl="0" indent="0" marL="0">
                        <a:buNone/>
                      </a:pPr>
                      <a:r>
                        <a:rPr/>
                        <a:t>Best for large or repeated workflows</a:t>
                      </a:r>
                    </a:p>
                  </a:txBody>
                </a:tc>
              </a:tr>
              <a:tr h="0">
                <a:tc>
                  <a:txBody>
                    <a:bodyPr/>
                    <a:lstStyle/>
                    <a:p>
                      <a:pPr lvl="0" indent="0" marL="0">
                        <a:buNone/>
                      </a:pPr>
                      <a:r>
                        <a:rPr b="1"/>
                        <a:t>Cytoscape</a:t>
                      </a:r>
                    </a:p>
                  </a:txBody>
                </a:tc>
                <a:tc>
                  <a:txBody>
                    <a:bodyPr/>
                    <a:lstStyle/>
                    <a:p>
                      <a:pPr lvl="0" indent="0" marL="0">
                        <a:buNone/>
                      </a:pPr>
                      <a:r>
                        <a:rPr/>
                        <a:t>Biological/complex networks</a:t>
                      </a:r>
                    </a:p>
                  </a:txBody>
                </a:tc>
                <a:tc>
                  <a:txBody>
                    <a:bodyPr/>
                    <a:lstStyle/>
                    <a:p>
                      <a:pPr lvl="0" indent="0" marL="0">
                        <a:buNone/>
                      </a:pPr>
                      <a:r>
                        <a:rPr/>
                        <a:t>Open source; professional-grade</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Errors to Avoid</a:t>
            </a:r>
          </a:p>
        </p:txBody>
      </p:sp>
      <p:sp>
        <p:nvSpPr>
          <p:cNvPr id="3" name="Content Placeholder 2"/>
          <p:cNvSpPr>
            <a:spLocks noGrp="1"/>
          </p:cNvSpPr>
          <p:nvPr>
            <p:ph idx="1"/>
          </p:nvPr>
        </p:nvSpPr>
        <p:spPr/>
        <p:txBody>
          <a:bodyPr/>
          <a:lstStyle/>
          <a:p>
            <a:pPr lvl="0"/>
            <a:r>
              <a:rPr/>
              <a:t>Reading </a:t>
            </a:r>
            <a:r>
              <a:rPr b="1"/>
              <a:t>spatial distance</a:t>
            </a:r>
            <a:r>
              <a:rPr/>
              <a:t> as historical distance (it isn’t)</a:t>
            </a:r>
          </a:p>
          <a:p>
            <a:pPr lvl="0"/>
            <a:r>
              <a:rPr/>
              <a:t>Treating the visualization as </a:t>
            </a:r>
            <a:r>
              <a:rPr b="1"/>
              <a:t>proof</a:t>
            </a:r>
            <a:r>
              <a:rPr/>
              <a:t> rather than a prompt</a:t>
            </a:r>
          </a:p>
          <a:p>
            <a:pPr lvl="0"/>
            <a:r>
              <a:rPr/>
              <a:t>Conflating events from </a:t>
            </a:r>
            <a:r>
              <a:rPr b="1"/>
              <a:t>different time periods</a:t>
            </a:r>
            <a:r>
              <a:rPr/>
              <a:t> into one graph</a:t>
            </a:r>
          </a:p>
          <a:p>
            <a:pPr lvl="0"/>
            <a:r>
              <a:rPr/>
              <a:t>Forgetting what the </a:t>
            </a:r>
            <a:r>
              <a:rPr b="1"/>
              <a:t>99s</a:t>
            </a:r>
            <a:r>
              <a:rPr/>
              <a:t> (unknowns) represent</a:t>
            </a:r>
          </a:p>
          <a:p>
            <a:pPr lvl="0"/>
            <a:r>
              <a:rPr/>
              <a:t>Confusing </a:t>
            </a:r>
            <a:r>
              <a:rPr b="1"/>
              <a:t>degree</a:t>
            </a:r>
            <a:r>
              <a:rPr/>
              <a:t> (connections) with </a:t>
            </a:r>
            <a:r>
              <a:rPr b="1"/>
              <a:t>historical importance</a:t>
            </a:r>
          </a:p>
          <a:p>
            <a:pPr lvl="0"/>
            <a:r>
              <a:rPr/>
              <a:t>Building the graph before </a:t>
            </a:r>
            <a:r>
              <a:rPr b="1"/>
              <a:t>defining the coding scheme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Network Analysis and Your Own Research</a:t>
            </a:r>
          </a:p>
        </p:txBody>
      </p:sp>
      <p:sp>
        <p:nvSpPr>
          <p:cNvPr id="3" name="Content Placeholder 2"/>
          <p:cNvSpPr>
            <a:spLocks noGrp="1"/>
          </p:cNvSpPr>
          <p:nvPr>
            <p:ph idx="1"/>
          </p:nvPr>
        </p:nvSpPr>
        <p:spPr/>
        <p:txBody>
          <a:bodyPr/>
          <a:lstStyle/>
          <a:p>
            <a:pPr lvl="0" indent="0" marL="0">
              <a:buNone/>
            </a:pPr>
            <a:r>
              <a:rPr/>
              <a:t>Think about your research interests:</a:t>
            </a:r>
          </a:p>
          <a:p>
            <a:pPr lvl="0"/>
            <a:r>
              <a:rPr/>
              <a:t>What kinds of </a:t>
            </a:r>
            <a:r>
              <a:rPr b="1"/>
              <a:t>entities</a:t>
            </a:r>
            <a:r>
              <a:rPr/>
              <a:t> appear in your sources? (People, places, organizations, texts)</a:t>
            </a:r>
          </a:p>
          <a:p>
            <a:pPr lvl="0"/>
            <a:r>
              <a:rPr/>
              <a:t>What kinds of </a:t>
            </a:r>
            <a:r>
              <a:rPr b="1"/>
              <a:t>relationships</a:t>
            </a:r>
            <a:r>
              <a:rPr/>
              <a:t> connect them?</a:t>
            </a:r>
          </a:p>
          <a:p>
            <a:pPr lvl="0"/>
            <a:r>
              <a:rPr/>
              <a:t>What historical question would a network visualization help you answer?</a:t>
            </a:r>
          </a:p>
          <a:p>
            <a:pPr lvl="0"/>
            <a:r>
              <a:rPr/>
              <a:t>What would be </a:t>
            </a:r>
            <a:r>
              <a:rPr b="1"/>
              <a:t>lost</a:t>
            </a:r>
            <a:r>
              <a:rPr/>
              <a:t> by reducing your sources to nodes and edges?</a:t>
            </a:r>
          </a:p>
          <a:p>
            <a:pPr lvl="0" indent="0" marL="0">
              <a:buNone/>
            </a:pPr>
            <a:r>
              <a:rPr i="1"/>
              <a:t>This is the prompt for your reflection this week.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Network Analysis for Historians</dc:title>
  <dc:creator>HIST 501D - Digital History</dc:creator>
  <cp:keywords/>
  <dcterms:created xsi:type="dcterms:W3CDTF">2026-03-16T21:52:59Z</dcterms:created>
  <dcterms:modified xsi:type="dcterms:W3CDTF">2026-03-16T21:52:59Z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March 16, 2026</vt:lpwstr>
  </property>
  <property fmtid="{D5CDD505-2E9C-101B-9397-08002B2CF9AE}" pid="3" name="subtitle">
    <vt:lpwstr>Theory, Modeling, and Visualization</vt:lpwstr>
  </property>
</Properties>
</file>