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webp" ContentType="image/webp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notesMaster" Target="notesMasters/notesMaster1.xml" /><Relationship Id="rId15" Type="http://schemas.openxmlformats.org/officeDocument/2006/relationships/viewProps" Target="viewProps.xml" /><Relationship Id="rId1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7" Type="http://schemas.openxmlformats.org/officeDocument/2006/relationships/tableStyles" Target="tableStyles.xml" /><Relationship Id="rId16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NB1: regex is not a parser for complex formats (like quoted CSV) but is ideal for spotting patterns and quick normalizations.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1.pn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.webp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code.visualstudio.com/docs/editing/codebasics" TargetMode="External" /><Relationship Id="rId3" Type="http://schemas.openxmlformats.org/officeDocument/2006/relationships/hyperlink" Target="https://github.com/bds134/hist501d-coursework-template/blob/main/ref-guides/regex-cheat.md" TargetMode="Externa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Week 3 — Regex Primer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Dr. B. Skopyk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2026-02-09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is a regular expression (regex)?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A compact language for describing text patterns.</a:t>
            </a:r>
          </a:p>
          <a:p>
            <a:pPr lvl="0"/>
            <a:r>
              <a:rPr/>
              <a:t>Used to match, extract, and transform text.</a:t>
            </a:r>
          </a:p>
          <a:p>
            <a:pPr lvl="0"/>
            <a:r>
              <a:rPr/>
              <a:t>Implemented in many tools: VSCode Finder, Python (</a:t>
            </a:r>
            <a:r>
              <a:rPr>
                <a:latin typeface="Courier"/>
              </a:rPr>
              <a:t>re</a:t>
            </a:r>
            <a:r>
              <a:rPr/>
              <a:t>), </a:t>
            </a:r>
            <a:r>
              <a:rPr>
                <a:latin typeface="Courier"/>
              </a:rPr>
              <a:t>grep</a:t>
            </a:r>
            <a:r>
              <a:rPr/>
              <a:t>/</a:t>
            </a:r>
            <a:r>
              <a:rPr>
                <a:latin typeface="Courier"/>
              </a:rPr>
              <a:t>rg</a:t>
            </a:r>
            <a:r>
              <a:rPr/>
              <a:t>, editors, and programming languages.</a:t>
            </a:r>
          </a:p>
        </p:txBody>
      </p:sp>
      <p:pic>
        <p:nvPicPr>
          <p:cNvPr descr="./assets/wiki-regex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648200" y="1498600"/>
            <a:ext cx="4038600" cy="2286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648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regex example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History of regex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Originated in 1950s formal language theory (Noam Chomsky, Stephen Kleene).</a:t>
            </a:r>
          </a:p>
          <a:p>
            <a:pPr lvl="0"/>
            <a:r>
              <a:rPr/>
              <a:t>Adopted in Unix tools in the 1970s (e.g., </a:t>
            </a:r>
            <a:r>
              <a:rPr>
                <a:latin typeface="Courier"/>
              </a:rPr>
              <a:t>grep</a:t>
            </a:r>
            <a:r>
              <a:rPr/>
              <a:t>).</a:t>
            </a:r>
          </a:p>
          <a:p>
            <a:pPr lvl="0"/>
            <a:r>
              <a:rPr/>
              <a:t>Now ubiquitous in programming languages and text editors.</a:t>
            </a:r>
          </a:p>
        </p:txBody>
      </p:sp>
      <p:pic>
        <p:nvPicPr>
          <p:cNvPr descr="./assets/thompson.webp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864100" y="1193800"/>
            <a:ext cx="3594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648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Ken Thompson (seated) with Dennis Ritchie, creator of C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Regex basics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Literals</a:t>
            </a:r>
            <a:r>
              <a:rPr/>
              <a:t>: exact characters (e.g. </a:t>
            </a:r>
            <a:r>
              <a:rPr>
                <a:latin typeface="Courier"/>
              </a:rPr>
              <a:t>,</a:t>
            </a:r>
            <a:r>
              <a:rPr/>
              <a:t> or </a:t>
            </a:r>
            <a:r>
              <a:rPr>
                <a:latin typeface="Courier"/>
              </a:rPr>
              <a:t>a</a:t>
            </a:r>
            <a:r>
              <a:rPr/>
              <a:t>)</a:t>
            </a:r>
          </a:p>
          <a:p>
            <a:pPr lvl="0"/>
            <a:r>
              <a:rPr b="1"/>
              <a:t>Character classes</a:t>
            </a:r>
            <a:r>
              <a:rPr/>
              <a:t>: </a:t>
            </a:r>
            <a:r>
              <a:rPr>
                <a:latin typeface="Courier"/>
              </a:rPr>
              <a:t>[abc]</a:t>
            </a:r>
          </a:p>
          <a:p>
            <a:pPr lvl="0"/>
            <a:r>
              <a:rPr b="1"/>
              <a:t>ranges</a:t>
            </a:r>
            <a:r>
              <a:rPr/>
              <a:t> </a:t>
            </a:r>
            <a:r>
              <a:rPr>
                <a:latin typeface="Courier"/>
              </a:rPr>
              <a:t>[A-Z]</a:t>
            </a:r>
          </a:p>
          <a:p>
            <a:pPr lvl="0"/>
            <a:r>
              <a:rPr b="1"/>
              <a:t>negation</a:t>
            </a:r>
            <a:r>
              <a:rPr/>
              <a:t> </a:t>
            </a:r>
            <a:r>
              <a:rPr>
                <a:latin typeface="Courier"/>
              </a:rPr>
              <a:t>[^0-9]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Metacharacters: </a:t>
            </a:r>
            <a:r>
              <a:rPr>
                <a:latin typeface="Courier"/>
              </a:rPr>
              <a:t>.</a:t>
            </a:r>
            <a:r>
              <a:rPr/>
              <a:t> </a:t>
            </a:r>
            <a:r>
              <a:rPr>
                <a:latin typeface="Courier"/>
              </a:rPr>
              <a:t>^</a:t>
            </a:r>
            <a:r>
              <a:rPr/>
              <a:t> </a:t>
            </a:r>
            <a:r>
              <a:rPr>
                <a:latin typeface="Courier"/>
              </a:rPr>
              <a:t>$</a:t>
            </a:r>
            <a:r>
              <a:rPr/>
              <a:t> </a:t>
            </a:r>
            <a:r>
              <a:rPr>
                <a:latin typeface="Courier"/>
              </a:rPr>
              <a:t>*</a:t>
            </a:r>
            <a:r>
              <a:rPr/>
              <a:t> </a:t>
            </a:r>
            <a:r>
              <a:rPr>
                <a:latin typeface="Courier"/>
              </a:rPr>
              <a:t>+</a:t>
            </a:r>
            <a:r>
              <a:rPr/>
              <a:t> </a:t>
            </a:r>
            <a:r>
              <a:rPr>
                <a:latin typeface="Courier"/>
              </a:rPr>
              <a:t>?</a:t>
            </a:r>
            <a:r>
              <a:rPr/>
              <a:t> </a:t>
            </a:r>
            <a:r>
              <a:rPr>
                <a:latin typeface="Courier"/>
              </a:rPr>
              <a:t>{}</a:t>
            </a:r>
            <a:r>
              <a:rPr/>
              <a:t> </a:t>
            </a:r>
            <a:r>
              <a:rPr>
                <a:latin typeface="Courier"/>
              </a:rPr>
              <a:t>[]</a:t>
            </a:r>
            <a:r>
              <a:rPr/>
              <a:t> </a:t>
            </a:r>
            <a:r>
              <a:rPr>
                <a:latin typeface="Courier"/>
              </a:rPr>
              <a:t>()</a:t>
            </a:r>
            <a:r>
              <a:rPr/>
              <a:t> </a:t>
            </a:r>
            <a:r>
              <a:rPr>
                <a:latin typeface="Courier"/>
              </a:rPr>
              <a:t>|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Anchors</a:t>
            </a:r>
            <a:r>
              <a:rPr/>
              <a:t>:</a:t>
            </a:r>
            <a:br/>
            <a:r>
              <a:rPr/>
              <a:t>- </a:t>
            </a:r>
            <a:r>
              <a:rPr>
                <a:latin typeface="Courier"/>
              </a:rPr>
              <a:t>^</a:t>
            </a:r>
            <a:r>
              <a:rPr/>
              <a:t> (start of line), </a:t>
            </a:r>
            <a:r>
              <a:rPr>
                <a:latin typeface="Courier"/>
              </a:rPr>
              <a:t>$</a:t>
            </a:r>
            <a:r>
              <a:rPr/>
              <a:t> (end), </a:t>
            </a:r>
            <a:r>
              <a:rPr>
                <a:latin typeface="Courier"/>
              </a:rPr>
              <a:t>\b</a:t>
            </a:r>
            <a:r>
              <a:rPr/>
              <a:t> (word boundary)</a:t>
            </a:r>
          </a:p>
          <a:p>
            <a:pPr lvl="0" indent="0" marL="0">
              <a:buNone/>
            </a:pPr>
            <a:r>
              <a:rPr b="1"/>
              <a:t>Quantifiers</a:t>
            </a:r>
            <a:r>
              <a:rPr/>
              <a:t>:</a:t>
            </a:r>
            <a:br/>
            <a:r>
              <a:rPr/>
              <a:t>- </a:t>
            </a:r>
            <a:r>
              <a:rPr>
                <a:latin typeface="Courier"/>
              </a:rPr>
              <a:t>*</a:t>
            </a:r>
            <a:r>
              <a:rPr/>
              <a:t> (0+), </a:t>
            </a:r>
            <a:r>
              <a:rPr>
                <a:latin typeface="Courier"/>
              </a:rPr>
              <a:t>+</a:t>
            </a:r>
            <a:r>
              <a:rPr/>
              <a:t> (1+), </a:t>
            </a:r>
            <a:r>
              <a:rPr>
                <a:latin typeface="Courier"/>
              </a:rPr>
              <a:t>?</a:t>
            </a:r>
            <a:r>
              <a:rPr/>
              <a:t> (0|1), </a:t>
            </a:r>
            <a:r>
              <a:rPr>
                <a:latin typeface="Courier"/>
              </a:rPr>
              <a:t>{m}</a:t>
            </a:r>
            <a:r>
              <a:rPr/>
              <a:t>, </a:t>
            </a:r>
            <a:r>
              <a:rPr>
                <a:latin typeface="Courier"/>
              </a:rPr>
              <a:t>{m,n}</a:t>
            </a:r>
          </a:p>
          <a:p>
            <a:pPr lvl="0" indent="0" marL="0">
              <a:buNone/>
            </a:pPr>
            <a:r>
              <a:rPr b="1"/>
              <a:t>Groups &amp; captures</a:t>
            </a:r>
            <a:r>
              <a:rPr/>
              <a:t>:</a:t>
            </a:r>
            <a:br/>
            <a:r>
              <a:rPr/>
              <a:t>- </a:t>
            </a:r>
            <a:r>
              <a:rPr>
                <a:latin typeface="Courier"/>
              </a:rPr>
              <a:t>( ... )</a:t>
            </a:r>
            <a:r>
              <a:rPr/>
              <a:t> and non-capturing </a:t>
            </a:r>
            <a:r>
              <a:rPr>
                <a:latin typeface="Courier"/>
              </a:rPr>
              <a:t>(?: ... )</a:t>
            </a:r>
          </a:p>
          <a:p>
            <a:pPr lvl="0" indent="0" marL="0">
              <a:buNone/>
            </a:pPr>
            <a:r>
              <a:rPr b="1"/>
              <a:t>Escaping</a:t>
            </a:r>
            <a:r>
              <a:rPr/>
              <a:t>:</a:t>
            </a:r>
            <a:br/>
            <a:r>
              <a:rPr/>
              <a:t>- backslash </a:t>
            </a:r>
            <a:r>
              <a:rPr>
                <a:latin typeface="Courier"/>
              </a:rPr>
              <a:t>\</a:t>
            </a:r>
            <a:r>
              <a:rPr/>
              <a:t> to treat metacharacters literally (e.g., </a:t>
            </a:r>
            <a:r>
              <a:rPr>
                <a:latin typeface="Courier"/>
              </a:rPr>
              <a:t>\.</a:t>
            </a:r>
            <a:r>
              <a:rPr/>
              <a:t> matches a dot)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Common tokens &amp;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.</a:t>
            </a:r>
            <a:r>
              <a:rPr/>
              <a:t> : any character</a:t>
            </a:r>
          </a:p>
          <a:p>
            <a:pPr lvl="0"/>
            <a:r>
              <a:rPr>
                <a:latin typeface="Courier"/>
              </a:rPr>
              <a:t>\d</a:t>
            </a:r>
            <a:r>
              <a:rPr/>
              <a:t> : digit (0-9) | </a:t>
            </a:r>
            <a:r>
              <a:rPr>
                <a:latin typeface="Courier"/>
              </a:rPr>
              <a:t>\D</a:t>
            </a:r>
            <a:r>
              <a:rPr/>
              <a:t> : non-digit</a:t>
            </a:r>
          </a:p>
          <a:p>
            <a:pPr lvl="0"/>
            <a:r>
              <a:rPr>
                <a:latin typeface="Courier"/>
              </a:rPr>
              <a:t>\w</a:t>
            </a:r>
            <a:r>
              <a:rPr/>
              <a:t> : word character | </a:t>
            </a:r>
            <a:r>
              <a:rPr>
                <a:latin typeface="Courier"/>
              </a:rPr>
              <a:t>\W</a:t>
            </a:r>
            <a:r>
              <a:rPr/>
              <a:t> : non-word character</a:t>
            </a:r>
          </a:p>
          <a:p>
            <a:pPr lvl="0"/>
            <a:r>
              <a:rPr>
                <a:latin typeface="Courier"/>
              </a:rPr>
              <a:t>\s</a:t>
            </a:r>
            <a:r>
              <a:rPr/>
              <a:t> : whitespace | </a:t>
            </a:r>
            <a:r>
              <a:rPr>
                <a:latin typeface="Courier"/>
              </a:rPr>
              <a:t>\S</a:t>
            </a:r>
            <a:r>
              <a:rPr/>
              <a:t> : non-whitespace</a:t>
            </a:r>
          </a:p>
          <a:p>
            <a:pPr lvl="0"/>
            <a:r>
              <a:rPr>
                <a:latin typeface="Courier"/>
              </a:rPr>
              <a:t>\b</a:t>
            </a:r>
            <a:r>
              <a:rPr/>
              <a:t> : word boundary</a:t>
            </a:r>
          </a:p>
          <a:p>
            <a:pPr lvl="0"/>
            <a:r>
              <a:rPr>
                <a:latin typeface="Courier"/>
              </a:rPr>
              <a:t>\n</a:t>
            </a:r>
            <a:r>
              <a:rPr/>
              <a:t> : newline</a:t>
            </a:r>
          </a:p>
          <a:p>
            <a:pPr lvl="0"/>
            <a:r>
              <a:rPr>
                <a:latin typeface="Courier"/>
              </a:rPr>
              <a:t>|</a:t>
            </a:r>
            <a:r>
              <a:rPr/>
              <a:t> : alternation (OR)</a:t>
            </a:r>
          </a:p>
          <a:p>
            <a:pPr lvl="0" indent="0" marL="0">
              <a:buNone/>
            </a:pPr>
            <a:r>
              <a:rPr/>
              <a:t>Example: </a:t>
            </a:r>
            <a:r>
              <a:rPr>
                <a:latin typeface="Courier"/>
              </a:rPr>
              <a:t>\b\d{4}\b</a:t>
            </a:r>
            <a:r>
              <a:rPr/>
              <a:t> — matches 4-digit numbers as whole words (e.g., years).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Capture groups &amp; replacements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Groups capture parts of a match for extraction or replacement</a:t>
            </a:r>
          </a:p>
          <a:p>
            <a:pPr lvl="0" indent="0" marL="0">
              <a:buNone/>
            </a:pPr>
            <a:r>
              <a:rPr/>
              <a:t>Example pattern: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(\d{1,2})/(\d{1,2})/(\d{2,4})</a:t>
            </a:r>
            <a:r>
              <a:rPr/>
              <a:t> (e.g. </a:t>
            </a:r>
            <a:r>
              <a:rPr>
                <a:latin typeface="Courier"/>
              </a:rPr>
              <a:t>2/9/26</a:t>
            </a:r>
            <a:r>
              <a:rPr/>
              <a:t>)</a:t>
            </a:r>
          </a:p>
          <a:p>
            <a:pPr lvl="0"/>
            <a:r>
              <a:rPr/>
              <a:t>Group 1: month </a:t>
            </a:r>
            <a:r>
              <a:rPr>
                <a:latin typeface="Courier"/>
              </a:rPr>
              <a:t>(\d{1,2})</a:t>
            </a:r>
          </a:p>
          <a:p>
            <a:pPr lvl="0"/>
            <a:r>
              <a:rPr/>
              <a:t>Group 2: day </a:t>
            </a:r>
            <a:r>
              <a:rPr>
                <a:latin typeface="Courier"/>
              </a:rPr>
              <a:t>(\d{1,2})</a:t>
            </a:r>
          </a:p>
          <a:p>
            <a:pPr lvl="0"/>
            <a:r>
              <a:rPr/>
              <a:t>Group 3: year </a:t>
            </a:r>
            <a:r>
              <a:rPr>
                <a:latin typeface="Courier"/>
              </a:rPr>
              <a:t>(\d{2,4})</a:t>
            </a:r>
          </a:p>
          <a:p>
            <a:pPr lvl="0" indent="0" marL="0">
              <a:buNone/>
            </a:pPr>
            <a:r>
              <a:rPr/>
              <a:t>Replacement in VSCode:</a:t>
            </a:r>
          </a:p>
          <a:p>
            <a:pPr lvl="0"/>
            <a:r>
              <a:rPr>
                <a:latin typeface="Courier"/>
              </a:rPr>
              <a:t>$3-$1-$2</a:t>
            </a:r>
            <a:r>
              <a:rPr/>
              <a:t> → reorder to </a:t>
            </a:r>
            <a:r>
              <a:rPr>
                <a:latin typeface="Courier"/>
              </a:rPr>
              <a:t>YYYY-M-D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Reference Docs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VSCode regex guide:</a:t>
            </a:r>
            <a:br/>
            <a:r>
              <a:rPr>
                <a:hlinkClick r:id="rId2"/>
              </a:rPr>
              <a:t>https://learn.microsoft.com/en-us/visualstudio/ide/using-regular-expressions-in-visual-studio?view=visualstudio</a:t>
            </a:r>
          </a:p>
          <a:p>
            <a:pPr lvl="0" indent="0" marL="0">
              <a:buNone/>
            </a:pPr>
            <a:r>
              <a:rPr/>
              <a:t>Class Repo:</a:t>
            </a:r>
            <a:br/>
            <a:r>
              <a:rPr>
                <a:hlinkClick r:id="rId3"/>
              </a:rPr>
              <a:t>github course repo: /ref-guides – https://github.com/bds134/hist501d-coursework-template/blob/main/ref-guides/regex-cheat.md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GREP – Global Regular Expression Print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Command-line tool for searching text using regex</a:t>
            </a:r>
          </a:p>
          <a:p>
            <a:pPr lvl="0" indent="0" marL="0">
              <a:buNone/>
            </a:pPr>
            <a:r>
              <a:rPr/>
              <a:t>E.G. Find 4-digit years from 1800 to 2099 in </a:t>
            </a:r>
            <a:r>
              <a:rPr>
                <a:latin typeface="Courier"/>
              </a:rPr>
              <a:t>data.csv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grep -n -i -E '\b(18|19|20)\d{2}\b' ./data.csv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grep example explained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grep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7D9029"/>
                </a:solidFill>
                <a:latin typeface="Courier"/>
              </a:rPr>
              <a:t>-n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7D9029"/>
                </a:solidFill>
                <a:latin typeface="Courier"/>
              </a:rPr>
              <a:t>-i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7D9029"/>
                </a:solidFill>
                <a:latin typeface="Courier"/>
              </a:rPr>
              <a:t>-E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'\b(18|19|20)\d{2}\b'</a:t>
            </a:r>
            <a:r>
              <a:rPr>
                <a:latin typeface="Courier"/>
              </a:rPr>
              <a:t> ./data.csv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Flags:</a:t>
            </a:r>
          </a:p>
          <a:p>
            <a:pPr lvl="0"/>
            <a:r>
              <a:rPr>
                <a:latin typeface="Courier"/>
              </a:rPr>
              <a:t>-n</a:t>
            </a:r>
            <a:r>
              <a:rPr/>
              <a:t> : print line numbers</a:t>
            </a:r>
          </a:p>
          <a:p>
            <a:pPr lvl="0"/>
            <a:r>
              <a:rPr>
                <a:latin typeface="Courier"/>
              </a:rPr>
              <a:t>-i</a:t>
            </a:r>
            <a:r>
              <a:rPr/>
              <a:t> : case-insensitive</a:t>
            </a:r>
          </a:p>
          <a:p>
            <a:pPr lvl="0"/>
            <a:r>
              <a:rPr>
                <a:latin typeface="Courier"/>
              </a:rPr>
              <a:t>-E</a:t>
            </a:r>
            <a:r>
              <a:rPr/>
              <a:t> : use extended regex (enables </a:t>
            </a:r>
            <a:r>
              <a:rPr>
                <a:latin typeface="Courier"/>
              </a:rPr>
              <a:t>+</a:t>
            </a:r>
            <a:r>
              <a:rPr/>
              <a:t>, </a:t>
            </a:r>
            <a:r>
              <a:rPr>
                <a:latin typeface="Courier"/>
              </a:rPr>
              <a:t>?</a:t>
            </a:r>
            <a:r>
              <a:rPr/>
              <a:t>, </a:t>
            </a:r>
            <a:r>
              <a:rPr>
                <a:latin typeface="Courier"/>
              </a:rPr>
              <a:t>{}</a:t>
            </a:r>
            <a:r>
              <a:rPr/>
              <a:t> without backslashes)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Next steps / in-class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10–15 minute practice of VSCode Finder with annotated patterns</a:t>
            </a:r>
          </a:p>
          <a:p>
            <a:pPr lvl="0"/>
            <a:r>
              <a:rPr/>
              <a:t>open VSCode and then ctrl/cmd+shift+f to open the search panel</a:t>
            </a:r>
          </a:p>
          <a:p>
            <a:pPr lvl="0"/>
            <a:r>
              <a:rPr/>
              <a:t>Click results to see matches in context</a:t>
            </a:r>
          </a:p>
          <a:p>
            <a:pPr lvl="0"/>
            <a:r>
              <a:rPr/>
              <a:t>Try replacing with capture groups on a test file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3 — Regex Primer</dc:title>
  <dc:creator>Dr. B. Skopyk</dc:creator>
  <cp:keywords/>
  <dcterms:created xsi:type="dcterms:W3CDTF">2026-02-05T20:36:28Z</dcterms:created>
  <dcterms:modified xsi:type="dcterms:W3CDTF">2026-02-05T20:36:28Z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2026-02-09</vt:lpwstr>
  </property>
</Properties>
</file>