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notesMaster" Target="notesMasters/notesMaster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You’re not training to be software engineers. You’re learning to use computation as a research tool, like learning to use an archive or a statistical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dsl.richmond.edu/dispatch/" TargetMode="External" /><Relationship Id="rId3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2: Python for Historical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Historians Code</a:t>
            </a:r>
            <a:br/>
            <a:br/>
            <a:r>
              <a:rPr/>
              <a:t>HIST 501D - Digital History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February 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Most popular language</a:t>
            </a:r>
            <a:r>
              <a:rPr/>
              <a:t> in digital humanities</a:t>
            </a:r>
          </a:p>
          <a:p>
            <a:pPr lvl="0"/>
            <a:r>
              <a:rPr b="1"/>
              <a:t>Readable syntax</a:t>
            </a:r>
            <a:r>
              <a:rPr/>
              <a:t> - looks like pseudocode</a:t>
            </a:r>
          </a:p>
          <a:p>
            <a:pPr lvl="0"/>
            <a:r>
              <a:rPr b="1"/>
              <a:t>Rich ecosystem</a:t>
            </a:r>
            <a:r>
              <a:rPr/>
              <a:t> for text analysis, data cleaning, visualization</a:t>
            </a:r>
          </a:p>
          <a:p>
            <a:pPr lvl="0"/>
            <a:r>
              <a:rPr b="1"/>
              <a:t>AI-assisted</a:t>
            </a:r>
            <a:r>
              <a:rPr/>
              <a:t> - Copilot helps you write code</a:t>
            </a:r>
          </a:p>
          <a:p>
            <a:pPr lvl="0"/>
            <a:r>
              <a:rPr b="1"/>
              <a:t>You’re historians, not CS majors</a:t>
            </a:r>
            <a:r>
              <a:rPr/>
              <a:t> - computational literacy, not mastery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Scale Problem in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Traditional archival research:</a:t>
            </a:r>
          </a:p>
          <a:p>
            <a:pPr lvl="0"/>
            <a:r>
              <a:rPr/>
              <a:t>Read 500 documents over months</a:t>
            </a:r>
          </a:p>
          <a:p>
            <a:pPr lvl="0"/>
            <a:r>
              <a:rPr/>
              <a:t>Analyze patterns manually</a:t>
            </a:r>
          </a:p>
          <a:p>
            <a:pPr lvl="0"/>
            <a:r>
              <a:rPr/>
              <a:t>Write based on what you remember</a:t>
            </a:r>
          </a:p>
          <a:p>
            <a:pPr lvl="0" indent="0" marL="0">
              <a:buNone/>
            </a:pPr>
            <a:r>
              <a:rPr b="1"/>
              <a:t>Computational research:</a:t>
            </a:r>
          </a:p>
          <a:p>
            <a:pPr lvl="0"/>
            <a:r>
              <a:rPr/>
              <a:t>Process 50,000 documents in hours</a:t>
            </a:r>
          </a:p>
          <a:p>
            <a:pPr lvl="0"/>
            <a:r>
              <a:rPr/>
              <a:t>Extract structured data automatically</a:t>
            </a:r>
          </a:p>
          <a:p>
            <a:pPr lvl="0"/>
            <a:r>
              <a:rPr/>
              <a:t>Identify patterns impossible to see manually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Mining the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Richmond Daily Dispatch (1860-1865)</a:t>
            </a:r>
          </a:p>
          <a:p>
            <a:pPr lvl="0"/>
            <a:r>
              <a:rPr/>
              <a:t>24,000 newspaper articles</a:t>
            </a:r>
          </a:p>
          <a:p>
            <a:pPr lvl="0"/>
            <a:r>
              <a:rPr/>
              <a:t>Topic modeling reveals: shifting war coverage, economic concerns, enslaved people fleeing</a:t>
            </a:r>
          </a:p>
          <a:p>
            <a:pPr lvl="0"/>
            <a:r>
              <a:rPr b="1"/>
              <a:t>Impossible without computational methods</a:t>
            </a:r>
          </a:p>
          <a:p>
            <a:pPr lvl="0" indent="0" marL="0">
              <a:buNone/>
            </a:pPr>
            <a:r>
              <a:rPr/>
              <a:t>🔗 </a:t>
            </a:r>
            <a:r>
              <a:rPr>
                <a:hlinkClick r:id="rId2"/>
              </a:rPr>
              <a:t>dsl.richmond.edu/dispatch</a:t>
            </a:r>
          </a:p>
        </p:txBody>
      </p:sp>
      <p:pic>
        <p:nvPicPr>
          <p:cNvPr descr="./assets/mining-dispatc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99000" y="1193800"/>
            <a:ext cx="394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Mining the Dispatch - Civil War Richmond newspaper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Mapping Inequality</a:t>
            </a:r>
          </a:p>
        </p:txBody>
      </p:sp>
      <p:pic>
        <p:nvPicPr>
          <p:cNvPr descr="./assets/redlining-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7700" y="1193800"/>
            <a:ext cx="364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HOLC Redlining Maps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Digital Scholarship Lab - University of Richmond</a:t>
            </a:r>
          </a:p>
          <a:p>
            <a:pPr lvl="0" indent="0" marL="0">
              <a:buNone/>
            </a:pPr>
            <a:r>
              <a:rPr b="1"/>
              <a:t>Historical impact</a:t>
            </a:r>
            <a:r>
              <a:rPr/>
              <a:t>: Visualized systemic racism in housing policy</a:t>
            </a:r>
          </a:p>
          <a:p>
            <a:pPr lvl="0"/>
            <a:r>
              <a:rPr/>
              <a:t>Digitized 1930s redlining maps from 200+ cities</a:t>
            </a:r>
          </a:p>
          <a:p>
            <a:pPr lvl="0"/>
            <a:r>
              <a:rPr/>
              <a:t>Python scripts extract/geocode 100s neighborhood boundaries -&gt; create searchable database + interactive maps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Python Does for Historians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Data cleaning</a:t>
            </a:r>
            <a:r>
              <a:rPr/>
              <a:t> - Fix messy spreadsheets, inconsistent dates</a:t>
            </a:r>
          </a:p>
          <a:p>
            <a:pPr lvl="0" indent="-342900" marL="342900">
              <a:buAutoNum type="arabicPeriod"/>
            </a:pPr>
            <a:r>
              <a:rPr b="1"/>
              <a:t>Text analysis</a:t>
            </a:r>
            <a:r>
              <a:rPr/>
              <a:t> - Find patterns in documents</a:t>
            </a:r>
          </a:p>
          <a:p>
            <a:pPr lvl="0" indent="-342900" marL="342900">
              <a:buAutoNum type="arabicPeriod"/>
            </a:pPr>
            <a:r>
              <a:rPr b="1"/>
              <a:t>Web scraping</a:t>
            </a:r>
            <a:r>
              <a:rPr/>
              <a:t> - Collect data from websites/archives</a:t>
            </a:r>
          </a:p>
          <a:p>
            <a:pPr lvl="0" indent="-342900" marL="342900">
              <a:buAutoNum type="arabicPeriod"/>
            </a:pPr>
            <a:r>
              <a:rPr b="1"/>
              <a:t>Visualization</a:t>
            </a:r>
            <a:r>
              <a:rPr/>
              <a:t> - Create charts, maps, networks</a:t>
            </a:r>
          </a:p>
          <a:p>
            <a:pPr lvl="0" indent="-342900" marL="342900">
              <a:buAutoNum type="arabicPeriod"/>
            </a:pPr>
            <a:r>
              <a:rPr b="1"/>
              <a:t>Automation</a:t>
            </a:r>
            <a:r>
              <a:rPr/>
              <a:t> - Repeat tasks across thousands of files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Presidential State of the Union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Research question</a:t>
            </a:r>
            <a:r>
              <a:rPr/>
              <a:t>: How has presidential rhetoric changed over time?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Count mentions of "freedom" per decade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speech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speeches:</a:t>
            </a:r>
            <a:br/>
            <a:r>
              <a:rPr>
                <a:latin typeface="Courier"/>
              </a:rPr>
              <a:t>    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speech.text.count(</a:t>
            </a:r>
            <a:r>
              <a:rPr>
                <a:solidFill>
                  <a:srgbClr val="4070A0"/>
                </a:solidFill>
                <a:latin typeface="Courier"/>
              </a:rPr>
              <a:t>"freedom"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speech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year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mentions"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Manual approach</a:t>
            </a:r>
            <a:r>
              <a:rPr/>
              <a:t>: Weeks of reading</a:t>
            </a:r>
          </a:p>
          <a:p>
            <a:pPr lvl="0" indent="0" marL="0">
              <a:buNone/>
            </a:pPr>
            <a:r>
              <a:rPr b="1"/>
              <a:t>Python approach</a:t>
            </a:r>
            <a:r>
              <a:rPr/>
              <a:t>: 5 minutes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Variable?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container that stores data</a:t>
            </a:r>
          </a:p>
          <a:p>
            <a:pPr lvl="0" indent="0">
              <a:buNone/>
            </a:pPr>
            <a:r>
              <a:rPr>
                <a:latin typeface="Courier"/>
              </a:rPr>
              <a:t>president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"Abraham Lincoln"</a:t>
            </a:r>
            <a:br/>
            <a:r>
              <a:rPr>
                <a:latin typeface="Courier"/>
              </a:rPr>
              <a:t>birth_year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1809</a:t>
            </a:r>
            <a:br/>
            <a:r>
              <a:rPr>
                <a:latin typeface="Courier"/>
              </a:rPr>
              <a:t>is_alive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</a:p>
          <a:p>
            <a:pPr lvl="0" indent="0" marL="0">
              <a:buNone/>
            </a:pPr>
            <a:r>
              <a:rPr/>
              <a:t>Think of it like a label you stick on a box:</a:t>
            </a:r>
          </a:p>
          <a:p>
            <a:pPr lvl="0"/>
            <a:r>
              <a:rPr>
                <a:latin typeface="Courier"/>
              </a:rPr>
              <a:t>president</a:t>
            </a:r>
            <a:r>
              <a:rPr/>
              <a:t> → box containing “Abraham Lincoln”</a:t>
            </a:r>
          </a:p>
          <a:p>
            <a:pPr lvl="0"/>
            <a:r>
              <a:rPr>
                <a:latin typeface="Courier"/>
              </a:rPr>
              <a:t>birth_year</a:t>
            </a:r>
            <a:r>
              <a:rPr/>
              <a:t> → box containing 1809</a:t>
            </a:r>
          </a:p>
          <a:p>
            <a:pPr lvl="0"/>
            <a:r>
              <a:rPr>
                <a:latin typeface="Courier"/>
              </a:rPr>
              <a:t>is_alive</a:t>
            </a:r>
            <a:r>
              <a:rPr/>
              <a:t> → box containing False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 ordered collection of items</a:t>
            </a:r>
          </a:p>
          <a:p>
            <a:pPr lvl="0" indent="0">
              <a:buNone/>
            </a:pPr>
            <a:r>
              <a:rPr>
                <a:latin typeface="Courier"/>
              </a:rPr>
              <a:t>presidents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"Washington"</a:t>
            </a:r>
            <a:r>
              <a:rPr>
                <a:latin typeface="Courier"/>
              </a:rPr>
              <a:t>,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"Adams"</a:t>
            </a:r>
            <a:r>
              <a:rPr>
                <a:latin typeface="Courier"/>
              </a:rPr>
              <a:t>,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"Jefferson"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"Madison"</a:t>
            </a:r>
            <a:br/>
            <a:r>
              <a:rPr>
                <a:latin typeface="Courier"/>
              </a:rPr>
              <a:t>]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(presidents[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])  </a:t>
            </a:r>
            <a:r>
              <a:rPr i="1">
                <a:solidFill>
                  <a:srgbClr val="60A0B0"/>
                </a:solidFill>
                <a:latin typeface="Courier"/>
              </a:rPr>
              <a:t># "Washington"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(presidents))  </a:t>
            </a:r>
            <a:r>
              <a:rPr i="1">
                <a:solidFill>
                  <a:srgbClr val="60A0B0"/>
                </a:solidFill>
                <a:latin typeface="Courier"/>
              </a:rPr>
              <a:t># 4</a:t>
            </a:r>
          </a:p>
          <a:p>
            <a:pPr lvl="0" indent="0" marL="0">
              <a:buNone/>
            </a:pPr>
            <a:r>
              <a:rPr/>
              <a:t>Like a numbered filing cabinet - access items by position.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Dictionary?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Key-value pairs</a:t>
            </a:r>
            <a:r>
              <a:rPr/>
              <a:t> (like a real dictionary: word → definition)</a:t>
            </a:r>
          </a:p>
          <a:p>
            <a:pPr lvl="0" indent="0">
              <a:buNone/>
            </a:pPr>
            <a:r>
              <a:rPr>
                <a:latin typeface="Courier"/>
              </a:rPr>
              <a:t>battle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"Gettysburg"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1863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"state"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"Pennsylvania"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"casualties"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51000</a:t>
            </a:r>
            <a:br/>
            <a:r>
              <a:rPr>
                <a:latin typeface="Courier"/>
              </a:rPr>
              <a:t>}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(battle[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])  </a:t>
            </a:r>
            <a:r>
              <a:rPr i="1">
                <a:solidFill>
                  <a:srgbClr val="60A0B0"/>
                </a:solidFill>
                <a:latin typeface="Courier"/>
              </a:rPr>
              <a:t># 1863</a:t>
            </a:r>
          </a:p>
          <a:p>
            <a:pPr lvl="0" indent="0" marL="0">
              <a:buNone/>
            </a:pPr>
            <a:r>
              <a:rPr/>
              <a:t>Perfect for structured historical data!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Loop?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Repeat an action multiple times</a:t>
            </a:r>
          </a:p>
          <a:p>
            <a:pPr lvl="0" indent="0">
              <a:buNone/>
            </a:pPr>
            <a:r>
              <a:rPr>
                <a:latin typeface="Courier"/>
              </a:rPr>
              <a:t>years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1776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1812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1865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1917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1945</a:t>
            </a:r>
            <a:r>
              <a:rPr>
                <a:latin typeface="Courier"/>
              </a:rPr>
              <a:t>]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year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years: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f"Major event in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year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Why useful?</a:t>
            </a:r>
          </a:p>
          <a:p>
            <a:pPr lvl="0"/>
            <a:r>
              <a:rPr/>
              <a:t>Process thousands of files</a:t>
            </a:r>
          </a:p>
          <a:p>
            <a:pPr lvl="0"/>
            <a:r>
              <a:rPr/>
              <a:t>Analyze every line in a document</a:t>
            </a:r>
          </a:p>
          <a:p>
            <a:pPr lvl="0"/>
            <a:r>
              <a:rPr/>
              <a:t>Calculate statistics across datasets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Code Example: Analyzing Battle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battles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"Gettysburg"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1863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"casualties"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51000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"Antietam"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1862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"casualties"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22717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{</a:t>
            </a:r>
            <a:r>
              <a:rPr>
                <a:solidFill>
                  <a:srgbClr val="4070A0"/>
                </a:solidFill>
                <a:latin typeface="Courier"/>
              </a:rPr>
              <a:t>"name"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"Shiloh"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1862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"casualties"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23746</a:t>
            </a:r>
            <a:r>
              <a:rPr>
                <a:latin typeface="Courier"/>
              </a:rPr>
              <a:t>}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 deadliest battle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deadliest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(battles,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b: b[</a:t>
            </a:r>
            <a:r>
              <a:rPr>
                <a:solidFill>
                  <a:srgbClr val="4070A0"/>
                </a:solidFill>
                <a:latin typeface="Courier"/>
              </a:rPr>
              <a:t>"casualties"</a:t>
            </a:r>
            <a:r>
              <a:rPr>
                <a:latin typeface="Courier"/>
              </a:rPr>
              <a:t>])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f"Deadliest: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deadliest[</a:t>
            </a:r>
            <a:r>
              <a:rPr>
                <a:solidFill>
                  <a:srgbClr val="4070A0"/>
                </a:solidFill>
                <a:latin typeface="Courier"/>
              </a:rPr>
              <a:t>'name'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Total casualties</a:t>
            </a:r>
            <a:br/>
            <a:r>
              <a:rPr>
                <a:latin typeface="Courier"/>
              </a:rPr>
              <a:t>total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(b[</a:t>
            </a:r>
            <a:r>
              <a:rPr>
                <a:solidFill>
                  <a:srgbClr val="4070A0"/>
                </a:solidFill>
                <a:latin typeface="Courier"/>
              </a:rPr>
              <a:t>"casualties"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b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battles)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f"Total casualties: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total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AI-Assisted Coding: GitHub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AI pair programmer</a:t>
            </a:r>
          </a:p>
          <a:p>
            <a:pPr lvl="0"/>
            <a:r>
              <a:rPr/>
              <a:t>Autocompletes code as you type</a:t>
            </a:r>
          </a:p>
          <a:p>
            <a:pPr lvl="0"/>
            <a:r>
              <a:rPr/>
              <a:t>Suggests entire functions</a:t>
            </a:r>
          </a:p>
          <a:p>
            <a:pPr lvl="0"/>
            <a:r>
              <a:rPr/>
              <a:t>Explains error messages</a:t>
            </a:r>
          </a:p>
          <a:p>
            <a:pPr lvl="0"/>
            <a:r>
              <a:rPr/>
              <a:t>Translates plain English → code</a:t>
            </a:r>
          </a:p>
          <a:p>
            <a:pPr lvl="0" indent="0" marL="0">
              <a:buNone/>
            </a:pPr>
            <a:r>
              <a:rPr b="1"/>
              <a:t>Philosophy</a:t>
            </a:r>
            <a:r>
              <a:rPr/>
              <a:t>: Understand </a:t>
            </a:r>
            <a:r>
              <a:rPr i="1"/>
              <a:t>what</a:t>
            </a:r>
            <a:r>
              <a:rPr/>
              <a:t> code does and </a:t>
            </a:r>
            <a:r>
              <a:rPr i="1"/>
              <a:t>why</a:t>
            </a:r>
            <a:r>
              <a:rPr/>
              <a:t>. Let Copilot handle </a:t>
            </a:r>
            <a:r>
              <a:rPr i="1"/>
              <a:t>how</a:t>
            </a:r>
            <a:r>
              <a:rPr/>
              <a:t>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Policy for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🚫 Copilot OFF</a:t>
            </a:r>
            <a:r>
              <a:rPr/>
              <a:t>: Core concepts (30 min)</a:t>
            </a:r>
          </a:p>
          <a:p>
            <a:pPr lvl="0"/>
            <a:r>
              <a:rPr/>
              <a:t>Variables, data types, basic loops</a:t>
            </a:r>
          </a:p>
          <a:p>
            <a:pPr lvl="0"/>
            <a:r>
              <a:rPr/>
              <a:t>Type these yourself to build understanding</a:t>
            </a:r>
          </a:p>
          <a:p>
            <a:pPr lvl="0" indent="0" marL="0">
              <a:buNone/>
            </a:pPr>
            <a:r>
              <a:rPr b="1"/>
              <a:t>✅ Copilot ON</a:t>
            </a:r>
            <a:r>
              <a:rPr/>
              <a:t>: Everything else</a:t>
            </a:r>
          </a:p>
          <a:p>
            <a:pPr lvl="0"/>
            <a:r>
              <a:rPr/>
              <a:t>Writing functions</a:t>
            </a:r>
          </a:p>
          <a:p>
            <a:pPr lvl="0"/>
            <a:r>
              <a:rPr/>
              <a:t>File operations</a:t>
            </a:r>
          </a:p>
          <a:p>
            <a:pPr lvl="0"/>
            <a:r>
              <a:rPr/>
              <a:t>Debugging</a:t>
            </a:r>
          </a:p>
          <a:p>
            <a:pPr lvl="0"/>
            <a:r>
              <a:rPr/>
              <a:t>Anything you’ve seen demonstrated</a:t>
            </a:r>
          </a:p>
          <a:p>
            <a:pPr lvl="0" indent="0" marL="0">
              <a:buNone/>
            </a:pPr>
            <a:r>
              <a:rPr b="1"/>
              <a:t>Must document</a:t>
            </a:r>
            <a:r>
              <a:rPr/>
              <a:t>: What AI help you used (AI-use-log.md)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You’ll Build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Assignment 1</a:t>
            </a:r>
            <a:r>
              <a:rPr/>
              <a:t>: Python Fundamentals Notebook</a:t>
            </a:r>
          </a:p>
          <a:p>
            <a:pPr lvl="0"/>
            <a:r>
              <a:rPr/>
              <a:t>10 exercises with historical data</a:t>
            </a:r>
          </a:p>
          <a:p>
            <a:pPr lvl="0"/>
            <a:r>
              <a:rPr/>
              <a:t>Variables, lists, dictionaries, loops, functions</a:t>
            </a:r>
          </a:p>
          <a:p>
            <a:pPr lvl="0" indent="0" marL="0">
              <a:buNone/>
            </a:pPr>
            <a:r>
              <a:rPr b="1"/>
              <a:t>Assignment 2</a:t>
            </a:r>
            <a:r>
              <a:rPr/>
              <a:t>: Programming Historian Tutorial</a:t>
            </a:r>
          </a:p>
          <a:p>
            <a:pPr lvl="0"/>
            <a:r>
              <a:rPr/>
              <a:t>Read/write text files</a:t>
            </a:r>
          </a:p>
          <a:p>
            <a:pPr lvl="0"/>
            <a:r>
              <a:rPr/>
              <a:t>Practical file operations</a:t>
            </a:r>
          </a:p>
          <a:p>
            <a:pPr lvl="0"/>
            <a:r>
              <a:rPr/>
              <a:t>Build 3 Python scripts</a:t>
            </a:r>
          </a:p>
          <a:p>
            <a:pPr lvl="0" indent="0" marL="0">
              <a:buNone/>
            </a:pPr>
            <a:r>
              <a:rPr b="1"/>
              <a:t>Due</a:t>
            </a:r>
            <a:r>
              <a:rPr/>
              <a:t>: Monday, February 9 at 9:00 AM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End of Semester…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You’ll be able to:</a:t>
            </a:r>
          </a:p>
          <a:p>
            <a:pPr lvl="0"/>
            <a:r>
              <a:rPr/>
              <a:t>Clean 10,000-row datasets in minutes</a:t>
            </a:r>
          </a:p>
          <a:p>
            <a:pPr lvl="0"/>
            <a:r>
              <a:rPr/>
              <a:t>Analyze hundreds of historical documents</a:t>
            </a:r>
          </a:p>
          <a:p>
            <a:pPr lvl="0"/>
            <a:r>
              <a:rPr/>
              <a:t>Create interactive visualizations</a:t>
            </a:r>
          </a:p>
          <a:p>
            <a:pPr lvl="0"/>
            <a:r>
              <a:rPr/>
              <a:t>Build web maps of historical events</a:t>
            </a:r>
          </a:p>
          <a:p>
            <a:pPr lvl="0"/>
            <a:r>
              <a:rPr/>
              <a:t>Scrape data from online archives</a:t>
            </a:r>
          </a:p>
          <a:p>
            <a:pPr lvl="0" indent="0" marL="0">
              <a:buNone/>
            </a:pPr>
            <a:r>
              <a:rPr b="1"/>
              <a:t>All with Python + AI assistance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Don’t memorize syntax</a:t>
            </a:r>
            <a:r>
              <a:rPr/>
              <a:t> - look things up</a:t>
            </a:r>
          </a:p>
          <a:p>
            <a:pPr lvl="0" indent="-342900" marL="342900">
              <a:buAutoNum type="arabicPeriod"/>
            </a:pPr>
            <a:r>
              <a:rPr b="1"/>
              <a:t>Expect errors</a:t>
            </a:r>
            <a:r>
              <a:rPr/>
              <a:t> - they’re learning opportunities</a:t>
            </a:r>
          </a:p>
          <a:p>
            <a:pPr lvl="0" indent="-342900" marL="342900">
              <a:buAutoNum type="arabicPeriod"/>
            </a:pPr>
            <a:r>
              <a:rPr b="1"/>
              <a:t>Commit frequently</a:t>
            </a:r>
            <a:r>
              <a:rPr/>
              <a:t> - version control is your safety net</a:t>
            </a:r>
          </a:p>
          <a:p>
            <a:pPr lvl="0" indent="-342900" marL="342900">
              <a:buAutoNum type="arabicPeriod"/>
            </a:pPr>
            <a:r>
              <a:rPr b="1"/>
              <a:t>Ask for help</a:t>
            </a:r>
            <a:r>
              <a:rPr/>
              <a:t> - office hours, Copilot, classmates</a:t>
            </a:r>
          </a:p>
          <a:p>
            <a:pPr lvl="0" indent="-342900" marL="342900">
              <a:buAutoNum type="arabicPeriod"/>
            </a:pPr>
            <a:r>
              <a:rPr b="1"/>
              <a:t>Think like a historian</a:t>
            </a:r>
            <a:r>
              <a:rPr/>
              <a:t> - what question am I answering?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 1</a:t>
            </a:r>
            <a:r>
              <a:rPr/>
              <a:t> (just finished): Why Python + basic concepts</a:t>
            </a:r>
          </a:p>
          <a:p>
            <a:pPr lvl="0" indent="0" marL="0">
              <a:buNone/>
            </a:pPr>
            <a:r>
              <a:rPr b="1"/>
              <a:t>Part 2</a:t>
            </a:r>
            <a:r>
              <a:rPr/>
              <a:t>: Live demo + hands-on coding</a:t>
            </a:r>
          </a:p>
          <a:p>
            <a:pPr lvl="0"/>
            <a:r>
              <a:rPr/>
              <a:t>Variables and data types</a:t>
            </a:r>
          </a:p>
          <a:p>
            <a:pPr lvl="0"/>
            <a:r>
              <a:rPr/>
              <a:t>Lists and loops</a:t>
            </a:r>
          </a:p>
          <a:p>
            <a:pPr lvl="0"/>
            <a:r>
              <a:rPr/>
              <a:t>Working with historical data</a:t>
            </a:r>
          </a:p>
          <a:p>
            <a:pPr lvl="0"/>
            <a:r>
              <a:rPr/>
              <a:t>You’ll code along with me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Week 2 Quick Reference (in your repo)</a:t>
            </a:r>
          </a:p>
          <a:p>
            <a:pPr lvl="0"/>
            <a:r>
              <a:rPr/>
              <a:t>Programming Historian tutorials</a:t>
            </a:r>
          </a:p>
          <a:p>
            <a:pPr lvl="0"/>
            <a:r>
              <a:rPr/>
              <a:t>Office hours: Mon 3:15-4:45pm, Tue 9:30-11am</a:t>
            </a:r>
          </a:p>
          <a:p>
            <a:pPr lvl="0" indent="0" marL="0">
              <a:buNone/>
            </a:pPr>
            <a:r>
              <a:rPr b="1"/>
              <a:t>Ready to write some code?</a:t>
            </a:r>
            <a:r>
              <a:rPr/>
              <a:t> 💻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Python for Historical Research</dc:title>
  <dc:creator>HIST 501D - Digital History</dc:creator>
  <cp:keywords/>
  <dcterms:created xsi:type="dcterms:W3CDTF">2026-02-02T20:00:28Z</dcterms:created>
  <dcterms:modified xsi:type="dcterms:W3CDTF">2026-02-02T20:00:28Z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2, 2026</vt:lpwstr>
  </property>
  <property fmtid="{D5CDD505-2E9C-101B-9397-08002B2CF9AE}" pid="3" name="subtitle">
    <vt:lpwstr>Why Historians Code</vt:lpwstr>
  </property>
</Properties>
</file>