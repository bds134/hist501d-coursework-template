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aren’t arbitrary tech choices - they’re the standard tools in digital scholarship. Skills transfer to any computational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rogramminghistorian.org" TargetMode="External" /><Relationship Id="rId3" Type="http://schemas.openxmlformats.org/officeDocument/2006/relationships/hyperlink" Target="https://github.com/programminghistorian/jekyll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ds134.github.io/office-hours/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1: Tools of Digital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VSCode, Command Line, Markdown &amp; Git</a:t>
            </a:r>
            <a:br/>
            <a:br/>
            <a:r>
              <a:rPr/>
              <a:t>HIST 501D - Digital History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January 26,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These Tools?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VSCode</a:t>
            </a:r>
            <a:r>
              <a:rPr/>
              <a:t>: Your research workspace for the semester</a:t>
            </a:r>
          </a:p>
          <a:p>
            <a:pPr lvl="0"/>
            <a:r>
              <a:rPr b="1"/>
              <a:t>Command Line</a:t>
            </a:r>
            <a:r>
              <a:rPr/>
              <a:t>: Automate repetitive tasks (renaming 1000 files)</a:t>
            </a:r>
          </a:p>
          <a:p>
            <a:pPr lvl="0"/>
            <a:r>
              <a:rPr b="1"/>
              <a:t>Markdown</a:t>
            </a:r>
            <a:r>
              <a:rPr/>
              <a:t>: Write documentation that lives with your code</a:t>
            </a:r>
          </a:p>
          <a:p>
            <a:pPr lvl="0"/>
            <a:r>
              <a:rPr b="1"/>
              <a:t>Git</a:t>
            </a:r>
            <a:r>
              <a:rPr/>
              <a:t>: Track your work, collaborate, share with the world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Problem: Traditional Research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📁 Files named </a:t>
            </a:r>
            <a:r>
              <a:rPr>
                <a:latin typeface="Courier"/>
              </a:rPr>
              <a:t>dissertation_final_FINAL_v3_reallyFINAL.docx</a:t>
            </a:r>
          </a:p>
          <a:p>
            <a:pPr lvl="0"/>
            <a:r>
              <a:rPr/>
              <a:t>💾 “Did I save that change?”</a:t>
            </a:r>
          </a:p>
          <a:p>
            <a:pPr lvl="0"/>
            <a:r>
              <a:rPr/>
              <a:t>🤷 “What did I do three months ago?”</a:t>
            </a:r>
          </a:p>
          <a:p>
            <a:pPr lvl="0"/>
            <a:r>
              <a:rPr/>
              <a:t>⚠️ Hard drive crash = panic</a:t>
            </a:r>
          </a:p>
          <a:p>
            <a:pPr lvl="0"/>
            <a:r>
              <a:rPr/>
              <a:t>🤝 “How do we share code without breaking everything?”</a:t>
            </a:r>
          </a:p>
          <a:p>
            <a:pPr lvl="0"/>
            <a:r>
              <a:rPr/>
              <a:t>🕸️ Complex, inter-woven codebases that are hard to untangle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Solution: Version Control + Plain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📜 Every change tracked automatically</a:t>
            </a:r>
          </a:p>
          <a:p>
            <a:pPr lvl="0"/>
            <a:r>
              <a:rPr/>
              <a:t>⏮️ Rewind to any point in history</a:t>
            </a:r>
          </a:p>
          <a:p>
            <a:pPr lvl="0"/>
            <a:r>
              <a:rPr/>
              <a:t>🤝 Collaborate without email chains</a:t>
            </a:r>
          </a:p>
          <a:p>
            <a:pPr lvl="0"/>
            <a:r>
              <a:rPr/>
              <a:t>💻 Your work lives in the cloud (GitHub)</a:t>
            </a:r>
          </a:p>
          <a:p>
            <a:pPr lvl="0"/>
            <a:r>
              <a:rPr/>
              <a:t>🔍 Search your entire research history instantly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Example: The Programming Historian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100+ peer-reviewed tutorials for digital methods</a:t>
            </a:r>
          </a:p>
          <a:p>
            <a:pPr lvl="0"/>
            <a:r>
              <a:rPr/>
              <a:t>All written in Markdown</a:t>
            </a:r>
          </a:p>
          <a:p>
            <a:pPr lvl="0"/>
            <a:r>
              <a:rPr/>
              <a:t>All managed through Git/GitHub</a:t>
            </a:r>
          </a:p>
          <a:p>
            <a:pPr lvl="0"/>
            <a:r>
              <a:rPr/>
              <a:t>Anyone can contribute or suggest improvements</a:t>
            </a:r>
          </a:p>
          <a:p>
            <a:pPr lvl="0"/>
            <a:r>
              <a:rPr/>
              <a:t>Version history shows evolution of methods</a:t>
            </a:r>
          </a:p>
          <a:p>
            <a:pPr lvl="0" indent="0" marL="0">
              <a:buNone/>
            </a:pPr>
            <a:r>
              <a:rPr/>
              <a:t>🔗 </a:t>
            </a:r>
            <a:r>
              <a:rPr>
                <a:hlinkClick r:id="rId2"/>
              </a:rPr>
              <a:t>programminghistorian.org</a:t>
            </a:r>
            <a:r>
              <a:rPr/>
              <a:t> 🔗 </a:t>
            </a:r>
            <a:r>
              <a:rPr>
                <a:hlinkClick r:id="rId3"/>
              </a:rPr>
              <a:t>ph on gh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VSCode?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 integrated development environment (IDE)</a:t>
            </a:r>
            <a:r>
              <a:rPr/>
              <a:t> - your digital workshop</a:t>
            </a:r>
          </a:p>
          <a:p>
            <a:pPr lvl="0"/>
            <a:r>
              <a:rPr/>
              <a:t>Text editor (write code, markdown, notes)</a:t>
            </a:r>
          </a:p>
          <a:p>
            <a:pPr lvl="0"/>
            <a:r>
              <a:rPr/>
              <a:t>Terminal (run commands)</a:t>
            </a:r>
          </a:p>
          <a:p>
            <a:pPr lvl="0"/>
            <a:r>
              <a:rPr/>
              <a:t>Git integration (manage versions)</a:t>
            </a:r>
          </a:p>
          <a:p>
            <a:pPr lvl="0"/>
            <a:r>
              <a:rPr/>
              <a:t>Extensions (add specialized tools)</a:t>
            </a:r>
          </a:p>
          <a:p>
            <a:pPr lvl="0"/>
            <a:r>
              <a:rPr/>
              <a:t>Co-Pilot (AI coding assistant)</a:t>
            </a:r>
          </a:p>
          <a:p>
            <a:pPr lvl="0"/>
            <a:r>
              <a:rPr/>
              <a:t>Everything in one window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Command Line?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text-based interface to your computer</a:t>
            </a:r>
          </a:p>
          <a:p>
            <a:pPr lvl="0" indent="0" marL="0">
              <a:buNone/>
            </a:pPr>
            <a:r>
              <a:rPr/>
              <a:t>Instead of clicking icons, you type commands: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dissertation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.txt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grep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"revolution"</a:t>
            </a:r>
            <a:r>
              <a:rPr>
                <a:latin typeface="Courier"/>
              </a:rPr>
              <a:t> chapter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.txt</a:t>
            </a:r>
          </a:p>
          <a:p>
            <a:pPr lvl="0" indent="0" marL="0">
              <a:buNone/>
            </a:pPr>
            <a:r>
              <a:rPr b="1"/>
              <a:t>Why?</a:t>
            </a:r>
          </a:p>
          <a:p>
            <a:pPr lvl="0"/>
            <a:r>
              <a:rPr/>
              <a:t>Faster for repetitive tasks</a:t>
            </a:r>
          </a:p>
          <a:p>
            <a:pPr lvl="0"/>
            <a:r>
              <a:rPr/>
              <a:t>Automatable (run same task 1000 times)</a:t>
            </a:r>
          </a:p>
          <a:p>
            <a:pPr lvl="0"/>
            <a:r>
              <a:rPr/>
              <a:t>Required for most DH tools</a:t>
            </a:r>
          </a:p>
          <a:p>
            <a:pPr lvl="0"/>
            <a:r>
              <a:rPr/>
              <a:t>fetch and send data programmatically (through API)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Markdown?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Lightweight formatting for plain text documents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# Chapter 1: Introduction</a:t>
            </a:r>
            <a:br/>
            <a:br/>
            <a:r>
              <a:rPr>
                <a:latin typeface="Courier"/>
              </a:rPr>
              <a:t>This is a **bold statement** and this is *italic*.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First point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Second point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Link to source</a:t>
            </a:r>
            <a:r>
              <a:rPr i="1">
                <a:solidFill>
                  <a:srgbClr val="60A0B0"/>
                </a:solidFill>
                <a:latin typeface="Courier"/>
              </a:rPr>
              <a:t>](http://example.com)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DH scholars use MD: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Future-proof (plain text)</a:t>
            </a:r>
          </a:p>
          <a:p>
            <a:pPr lvl="0"/>
            <a:r>
              <a:rPr/>
              <a:t>Version control friendly</a:t>
            </a:r>
          </a:p>
          <a:p>
            <a:pPr lvl="0"/>
            <a:r>
              <a:rPr/>
              <a:t>Readable without special software</a:t>
            </a:r>
          </a:p>
          <a:p>
            <a:pPr lvl="0"/>
            <a:r>
              <a:rPr/>
              <a:t>Converts to HTML, PDF, Word, slides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Git &amp;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</a:t>
            </a:r>
            <a:r>
              <a:rPr/>
              <a:t>: Version control system (tracks changes)</a:t>
            </a:r>
          </a:p>
          <a:p>
            <a:pPr lvl="0" indent="0" marL="0">
              <a:buNone/>
            </a:pPr>
            <a:r>
              <a:rPr b="1"/>
              <a:t>GitHub</a:t>
            </a:r>
            <a:r>
              <a:rPr/>
              <a:t>: Cloud hosting for Git repositories (like Dropbox for code)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chapter1.md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"Revised introduction"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</a:t>
            </a:r>
          </a:p>
          <a:p>
            <a:pPr lvl="0" indent="0" marL="0">
              <a:buNone/>
            </a:pPr>
            <a:r>
              <a:rPr/>
              <a:t>Every change saved forever. Collaborate with others. Share your work.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Week 9, you’ll be able to: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Clean messy historical datasets (thousands of records)</a:t>
            </a:r>
          </a:p>
          <a:p>
            <a:pPr lvl="0"/>
            <a:r>
              <a:rPr/>
              <a:t>Visualize trends over time</a:t>
            </a:r>
          </a:p>
          <a:p>
            <a:pPr lvl="0"/>
            <a:r>
              <a:rPr/>
              <a:t>Analyze historical texts computationally</a:t>
            </a:r>
          </a:p>
          <a:p>
            <a:pPr lvl="0"/>
            <a:r>
              <a:rPr/>
              <a:t>Build maps of historical events</a:t>
            </a:r>
          </a:p>
          <a:p>
            <a:pPr lvl="0"/>
            <a:r>
              <a:rPr/>
              <a:t>Create network graphs of historical relationships</a:t>
            </a:r>
          </a:p>
          <a:p>
            <a:pPr lvl="0" indent="0" marL="0">
              <a:buNone/>
            </a:pPr>
            <a:r>
              <a:rPr b="1"/>
              <a:t>All documented, version-controlled, and shareable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Goals (Hands-On)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Remember</a:t>
            </a:r>
            <a:r>
              <a:rPr/>
              <a:t>: It’s okay to feel confused. These tools have learning curves. That’s normal!</a:t>
            </a:r>
          </a:p>
          <a:p>
            <a:pPr lvl="0" indent="-342900" marL="342900">
              <a:buAutoNum type="arabicPeriod"/>
            </a:pPr>
            <a:r>
              <a:rPr/>
              <a:t>Navigate VSCode interface</a:t>
            </a:r>
          </a:p>
          <a:p>
            <a:pPr lvl="0" indent="-342900" marL="342900">
              <a:buAutoNum type="arabicPeriod"/>
            </a:pPr>
            <a:r>
              <a:rPr/>
              <a:t>Use terminal for basic commands</a:t>
            </a:r>
          </a:p>
          <a:p>
            <a:pPr lvl="0" indent="-342900" marL="342900">
              <a:buAutoNum type="arabicPeriod"/>
            </a:pPr>
            <a:r>
              <a:rPr/>
              <a:t>Write markdown documents</a:t>
            </a:r>
          </a:p>
          <a:p>
            <a:pPr lvl="0" indent="-342900" marL="342900">
              <a:buAutoNum type="arabicPeriod"/>
            </a:pPr>
            <a:r>
              <a:rPr/>
              <a:t>Make your first Git commit</a:t>
            </a:r>
          </a:p>
          <a:p>
            <a:pPr lvl="0" indent="-342900" marL="342900">
              <a:buAutoNum type="arabicPeriod"/>
            </a:pPr>
            <a:r>
              <a:rPr/>
              <a:t>Push to GitHub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Before We Start?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Office Hours</a:t>
            </a:r>
            <a:r>
              <a:rPr/>
              <a:t>: - Mondays 3:15-4:45pm - Tuesdays 9:30-11am - </a:t>
            </a:r>
            <a:r>
              <a:rPr>
                <a:hlinkClick r:id="rId2"/>
              </a:rPr>
              <a:t>Schedule appointment</a:t>
            </a:r>
          </a:p>
          <a:p>
            <a:pPr lvl="0" indent="0" marL="0">
              <a:buNone/>
            </a:pPr>
            <a:r>
              <a:rPr b="1"/>
              <a:t>Need help?</a:t>
            </a:r>
            <a:r>
              <a:rPr/>
              <a:t> Email: bskopyk@binghamton.edu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Get Started!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Open VSCode on your laptop</a:t>
            </a:r>
          </a:p>
          <a:p>
            <a:pPr lvl="0" indent="0" marL="0">
              <a:buNone/>
            </a:pPr>
            <a:r>
              <a:rPr/>
              <a:t>Follow along as we explore the interface together.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Workflow This Semester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Accept assignment on </a:t>
            </a:r>
            <a:r>
              <a:rPr b="1"/>
              <a:t>GitHub Classroom</a:t>
            </a:r>
            <a:r>
              <a:rPr/>
              <a:t> (7:30 pm)</a:t>
            </a:r>
          </a:p>
          <a:p>
            <a:pPr lvl="0" indent="-342900" marL="342900">
              <a:buAutoNum type="arabicPeriod"/>
            </a:pPr>
            <a:r>
              <a:rPr/>
              <a:t>Clone repository to your computer</a:t>
            </a:r>
          </a:p>
          <a:p>
            <a:pPr lvl="0" indent="-342900" marL="342900">
              <a:buAutoNum type="arabicPeriod"/>
            </a:pPr>
            <a:r>
              <a:rPr/>
              <a:t>Work in </a:t>
            </a:r>
            <a:r>
              <a:rPr b="1"/>
              <a:t>VSCode</a:t>
            </a:r>
            <a:r>
              <a:rPr/>
              <a:t> (code, markdown, terminal)</a:t>
            </a:r>
          </a:p>
          <a:p>
            <a:pPr lvl="0" indent="-342900" marL="342900">
              <a:buAutoNum type="arabicPeriod"/>
            </a:pPr>
            <a:r>
              <a:rPr b="1"/>
              <a:t>Commit</a:t>
            </a:r>
            <a:r>
              <a:rPr/>
              <a:t> changes frequently</a:t>
            </a:r>
          </a:p>
          <a:p>
            <a:pPr lvl="0" indent="-342900" marL="342900">
              <a:buAutoNum type="arabicPeriod"/>
            </a:pPr>
            <a:r>
              <a:rPr b="1"/>
              <a:t>Push</a:t>
            </a:r>
            <a:r>
              <a:rPr/>
              <a:t> to GitHub (automatic backup)</a:t>
            </a:r>
          </a:p>
          <a:p>
            <a:pPr lvl="0" indent="-342900" marL="342900">
              <a:buAutoNum type="arabicPeriod"/>
            </a:pPr>
            <a:r>
              <a:rPr/>
              <a:t>We grade from your GitHub repository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Tools of Digital History</dc:title>
  <dc:creator>HIST 501D - Digital History</dc:creator>
  <cp:keywords/>
  <dcterms:created xsi:type="dcterms:W3CDTF">2026-01-26T21:46:35Z</dcterms:created>
  <dcterms:modified xsi:type="dcterms:W3CDTF">2026-01-26T21:46:35Z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January 26, 2026</vt:lpwstr>
  </property>
  <property fmtid="{D5CDD505-2E9C-101B-9397-08002B2CF9AE}" pid="3" name="subtitle">
    <vt:lpwstr>VSCode, Command Line, Markdown &amp; Git</vt:lpwstr>
  </property>
</Properties>
</file>